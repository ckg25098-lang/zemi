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
  </p:notesMasterIdLst>
  <p:sldIdLst>
    <p:sldId id="256" r:id="rId2"/>
    <p:sldId id="257" r:id="rId3"/>
    <p:sldId id="258" r:id="rId4"/>
    <p:sldId id="259" r:id="rId5"/>
    <p:sldId id="263" r:id="rId6"/>
    <p:sldId id="260" r:id="rId7"/>
    <p:sldId id="264" r:id="rId8"/>
    <p:sldId id="261" r:id="rId9"/>
    <p:sldId id="262" r:id="rId1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2" roundtripDataSignature="AMtx7mjQGFfbmcF/F6CMXnR89bWTo9kz7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customschemas.google.com/relationships/presentationmetadata" Target="meta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ja-JP" altLang="ja-JP" dirty="0"/>
              <a:t>25098 安永卓真。これから、卒業制作の中間発表を始めます。</a:t>
            </a:r>
            <a:endParaRPr dirty="0"/>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私の卒業制作のテーマは、豆田町について知ってもらうためのWebコンテンツ制作です。</a:t>
            </a:r>
            <a:r>
              <a:rPr lang="ja-JP" altLang="en-US" dirty="0"/>
              <a:t>　</a:t>
            </a:r>
            <a:r>
              <a:rPr lang="ja-JP" altLang="ja-JP" dirty="0"/>
              <a:t>よろしくお願いします。</a:t>
            </a: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5565c702f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ja-JP" altLang="ja-JP" dirty="0"/>
              <a:t>発表の流れは画面の通りです。</a:t>
            </a:r>
            <a:endParaRPr dirty="0"/>
          </a:p>
        </p:txBody>
      </p:sp>
      <p:sp>
        <p:nvSpPr>
          <p:cNvPr id="94" name="Google Shape;94;g15565c702f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まず、目的・背景について説明します。</a:t>
            </a:r>
            <a:r>
              <a:rPr lang="ja-JP" altLang="en-US" dirty="0"/>
              <a:t>　</a:t>
            </a:r>
            <a:r>
              <a:rPr lang="ja-JP" altLang="ja-JP" dirty="0"/>
              <a:t>私は豆田町の歴史や町並み、観光スポットなどの魅力を多くの人に知ってもらいたいと考え、このテーマにしました。</a:t>
            </a:r>
            <a:br>
              <a:rPr lang="en-US" altLang="ja-JP" dirty="0"/>
            </a:br>
            <a:r>
              <a:rPr lang="ja-JP" altLang="ja-JP" dirty="0"/>
              <a:t>観光情報を分かりやすく紹介し、実際に豆田町を訪れてみたいと思ってもらえるWebサイトを制作することを目的としています。</a:t>
            </a:r>
            <a:endParaRPr lang="ja-JP" altLang="en-US"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pPr marL="158750" indent="0">
              <a:buNone/>
            </a:pPr>
            <a:r>
              <a:rPr lang="ja-JP" altLang="ja-JP" dirty="0"/>
              <a:t>次に、作品・研究の概要について説明します。</a:t>
            </a:r>
            <a:r>
              <a:rPr lang="ja-JP" altLang="en-US" dirty="0"/>
              <a:t>　</a:t>
            </a:r>
            <a:r>
              <a:rPr lang="ja-JP" altLang="ja-JP" dirty="0"/>
              <a:t>まず、研究について説明します。</a:t>
            </a:r>
          </a:p>
          <a:p>
            <a:pPr marL="158750" indent="0">
              <a:buNone/>
            </a:pPr>
            <a:r>
              <a:rPr lang="ja-JP" altLang="ja-JP" dirty="0"/>
              <a:t>豆田町について調べたところ、江戸時代の町割りが残っており、白壁の建物や古い町家など、歴史を感じられる町並みが特徴だと分かりました。</a:t>
            </a:r>
          </a:p>
          <a:p>
            <a:pPr marL="158750" indent="0">
              <a:buNone/>
            </a:pPr>
            <a:r>
              <a:rPr lang="ja-JP" altLang="ja-JP" dirty="0"/>
              <a:t>また、草野本家や薫長酒蔵資料館などの観光スポットがあり、グルメやお店などもあるため、町並みを歩きながら観光を楽しめる地域だと分かりました。</a:t>
            </a:r>
          </a:p>
        </p:txBody>
      </p:sp>
    </p:spTree>
    <p:extLst>
      <p:ext uri="{BB962C8B-B14F-4D97-AF65-F5344CB8AC3E}">
        <p14:creationId xmlns:p14="http://schemas.microsoft.com/office/powerpoint/2010/main" val="2539914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5565c702ff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次に、作品について説明します。</a:t>
            </a:r>
            <a:r>
              <a:rPr lang="ja-JP" altLang="en-US" dirty="0"/>
              <a:t>　</a:t>
            </a:r>
            <a:r>
              <a:rPr lang="ja-JP" altLang="ja-JP" dirty="0"/>
              <a:t>Webサイトの制作では、豆田町についてや観光スポット、グルメ、アクセス情報などを紹介します。</a:t>
            </a:r>
          </a:p>
          <a:p>
            <a:pPr marL="158750" indent="0">
              <a:buNone/>
            </a:pPr>
            <a:r>
              <a:rPr lang="ja-JP" altLang="ja-JP" dirty="0"/>
              <a:t>3Dマップの制作では、Three.jsを使用して、豆田町の街並みや観光スポットを立体的に表現します。</a:t>
            </a:r>
            <a:endParaRPr lang="en-US" altLang="ja-JP" dirty="0"/>
          </a:p>
          <a:p>
            <a:pPr marL="158750" indent="0">
              <a:buNone/>
            </a:pPr>
            <a:r>
              <a:rPr lang="ja-JP" altLang="ja-JP" dirty="0"/>
              <a:t>研究で調べた情報をWebサイトや3Dマップに取り入れ、豆田町の魅力を分かりやすく伝えられる作品を目指しています。</a:t>
            </a:r>
          </a:p>
        </p:txBody>
      </p:sp>
      <p:sp>
        <p:nvSpPr>
          <p:cNvPr id="106" name="Google Shape;106;g15565c702ff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pPr marL="158750" indent="0">
              <a:buNone/>
            </a:pPr>
            <a:r>
              <a:rPr lang="ja-JP" altLang="ja-JP" dirty="0"/>
              <a:t>次に、現在の制作状況について説明します。</a:t>
            </a:r>
            <a:br>
              <a:rPr lang="en-US" altLang="ja-JP" dirty="0"/>
            </a:br>
            <a:r>
              <a:rPr lang="ja-JP" altLang="ja-JP" dirty="0"/>
              <a:t>まず、Webサイトについてです。現在、TOPページ、豆田町について、観光スポットのページを制作しています。</a:t>
            </a:r>
            <a:endParaRPr lang="en-US" altLang="ja-JP" dirty="0"/>
          </a:p>
          <a:p>
            <a:pPr marL="158750" indent="0">
              <a:buNone/>
            </a:pPr>
            <a:r>
              <a:rPr lang="ja-JP" altLang="ja-JP" dirty="0"/>
              <a:t>グルメ・お店とアクセスのページは現在制作中で、その他にも各ページのレイアウトの調整や修正、不足している写真の補充や写真の修正を進めています。</a:t>
            </a:r>
          </a:p>
          <a:p>
            <a:pPr marL="158750" indent="0">
              <a:buNone/>
            </a:pPr>
            <a:r>
              <a:rPr lang="ja-JP" altLang="ja-JP" dirty="0"/>
              <a:t>次に、3Dマップについてです。</a:t>
            </a:r>
          </a:p>
          <a:p>
            <a:pPr marL="158750" indent="0">
              <a:buNone/>
            </a:pPr>
            <a:r>
              <a:rPr lang="ja-JP" altLang="ja-JP" dirty="0"/>
              <a:t>Webサイトへの組み込みと、3Dマップの基本的な操作は制作済みです。現在は、建物や道路の配置を調整しており、Blenderで建物の3Dモデルも制作しています。</a:t>
            </a:r>
          </a:p>
        </p:txBody>
      </p:sp>
    </p:spTree>
    <p:extLst>
      <p:ext uri="{BB962C8B-B14F-4D97-AF65-F5344CB8AC3E}">
        <p14:creationId xmlns:p14="http://schemas.microsoft.com/office/powerpoint/2010/main" val="42847694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5565c702ff_2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次に、今後の流れについて説明します。</a:t>
            </a:r>
          </a:p>
          <a:p>
            <a:pPr marL="158750" indent="0">
              <a:buNone/>
            </a:pPr>
            <a:r>
              <a:rPr lang="ja-JP" altLang="ja-JP" dirty="0"/>
              <a:t>10月から11月にかけては、Webサイトと3Dマップの制作を進めます。各ページのデザインやレイアウトを整え、写真の補充や改善を行います。また、Blenderで建物を制作し、Three.jsを使用してWebサイトに組み込んでいきます。</a:t>
            </a:r>
          </a:p>
          <a:p>
            <a:pPr marL="158750" indent="0">
              <a:buNone/>
            </a:pPr>
            <a:r>
              <a:rPr lang="ja-JP" altLang="ja-JP" dirty="0"/>
              <a:t>12月には、各ページや3Dマップの動作確認と修正を行い、表示や操作性を改善します。最後に、全体の仕上げと最終確認を行い、卒業制作の完成を目指します。</a:t>
            </a:r>
          </a:p>
        </p:txBody>
      </p:sp>
      <p:sp>
        <p:nvSpPr>
          <p:cNvPr id="112" name="Google Shape;112;g15565c702ff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5565c702ff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58750" indent="0">
              <a:buNone/>
            </a:pPr>
            <a:r>
              <a:rPr lang="ja-JP" altLang="ja-JP" dirty="0"/>
              <a:t>最後に、制作・研究方法について説明します。</a:t>
            </a:r>
            <a:r>
              <a:rPr lang="ja-JP" altLang="en-US" dirty="0"/>
              <a:t>　</a:t>
            </a:r>
            <a:br>
              <a:rPr lang="en-US" altLang="ja-JP" dirty="0"/>
            </a:br>
            <a:r>
              <a:rPr lang="ja-JP" altLang="ja-JP" dirty="0"/>
              <a:t>まず、使用ソフトについてです。Webサイトの制作にはVisual Studio Codeを使用し、建物の3Dモデル制作にはBlender、3Dマップの表示や操作にはThree.jsを使用しています。また、必要に応じてPhotoshopで写真の加工や編集を行います。</a:t>
            </a:r>
            <a:br>
              <a:rPr lang="en-US" altLang="ja-JP" dirty="0"/>
            </a:br>
            <a:r>
              <a:rPr lang="ja-JP" altLang="ja-JP" dirty="0"/>
              <a:t>使用機材は、ノートパソコンとマウスを中心に、スマートフォンで写真撮影やWebサイトの表示確認を行います。</a:t>
            </a:r>
          </a:p>
          <a:p>
            <a:pPr marL="158750" indent="0">
              <a:buNone/>
            </a:pPr>
            <a:r>
              <a:rPr lang="ja-JP" altLang="ja-JP" dirty="0"/>
              <a:t>参照サイトはGoogleを使用し、豆田町の観光情報や制作に必要な情報を調べています。</a:t>
            </a:r>
          </a:p>
          <a:p>
            <a:pPr marL="158750" indent="0">
              <a:buNone/>
            </a:pPr>
            <a:r>
              <a:rPr lang="ja-JP" altLang="ja-JP" dirty="0"/>
              <a:t>以上で、卒業制作の中間発表を終わります。ご清聴ありがとうございました。</a:t>
            </a:r>
          </a:p>
        </p:txBody>
      </p:sp>
      <p:sp>
        <p:nvSpPr>
          <p:cNvPr id="118" name="Google Shape;118;g15565c702ff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a:spLocks noGrp="1"/>
          </p:cNvSpPr>
          <p:nvPr>
            <p:ph type="pic" idx="2"/>
          </p:nvPr>
        </p:nvSpPr>
        <p:spPr>
          <a:xfrm>
            <a:off x="5183188" y="987425"/>
            <a:ext cx="6172200" cy="4873625"/>
          </a:xfrm>
          <a:prstGeom prst="rect">
            <a:avLst/>
          </a:prstGeom>
          <a:noFill/>
          <a:ln>
            <a:noFill/>
          </a:ln>
        </p:spPr>
      </p:sp>
      <p:sp>
        <p:nvSpPr>
          <p:cNvPr id="64" name="Google Shape;64;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ckg25098-lang.github.io/zemi/%E5%88%B6%E4%BD%9C%E7%89%A9%EF%BC%91/index.html"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ckg25098-lang.github.io/zemi/%E5%88%B6%E4%BD%9C%E7%89%A9%EF%BC%91/map.html"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r>
              <a:rPr lang="ja-JP" altLang="ja-JP" dirty="0"/>
              <a:t>予備審査</a:t>
            </a:r>
            <a:br>
              <a:rPr lang="ja-JP" altLang="ja-JP" dirty="0"/>
            </a:br>
            <a:r>
              <a:rPr lang="ja-JP" altLang="ja-JP" dirty="0"/>
              <a:t>発表</a:t>
            </a:r>
            <a:endParaRPr dirty="0"/>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1800"/>
              <a:buNone/>
            </a:pPr>
            <a:r>
              <a:rPr lang="en-US" altLang="ja-JP" dirty="0"/>
              <a:t>25098</a:t>
            </a:r>
            <a:r>
              <a:rPr lang="ja-JP" dirty="0"/>
              <a:t>_</a:t>
            </a:r>
            <a:r>
              <a:rPr lang="ja-JP" altLang="en-US" dirty="0"/>
              <a:t>安永卓真</a:t>
            </a: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a:t>テーマ</a:t>
            </a:r>
            <a:endParaRPr/>
          </a:p>
        </p:txBody>
      </p:sp>
      <p:sp>
        <p:nvSpPr>
          <p:cNvPr id="91" name="Google Shape;91;p2"/>
          <p:cNvSpPr txBox="1">
            <a:spLocks noGrp="1"/>
          </p:cNvSpPr>
          <p:nvPr>
            <p:ph type="body" idx="1"/>
          </p:nvPr>
        </p:nvSpPr>
        <p:spPr>
          <a:xfrm>
            <a:off x="1651000" y="2502958"/>
            <a:ext cx="8890000" cy="926042"/>
          </a:xfrm>
          <a:prstGeom prst="rect">
            <a:avLst/>
          </a:prstGeom>
          <a:noFill/>
          <a:ln>
            <a:noFill/>
          </a:ln>
        </p:spPr>
        <p:txBody>
          <a:bodyPr spcFirstLastPara="1" wrap="square" lIns="91425" tIns="45700" rIns="91425" bIns="45700" anchor="t" anchorCtr="0">
            <a:noAutofit/>
          </a:bodyPr>
          <a:lstStyle/>
          <a:p>
            <a:pPr marL="228600" lvl="0" indent="-50800">
              <a:spcBef>
                <a:spcPts val="0"/>
              </a:spcBef>
              <a:buSzPts val="2800"/>
              <a:buNone/>
            </a:pPr>
            <a:r>
              <a:rPr lang="ja-JP" altLang="en-US" sz="6000" dirty="0"/>
              <a:t>豆田町の紹介</a:t>
            </a:r>
            <a:r>
              <a:rPr lang="en-US" altLang="ja-JP" sz="6000" dirty="0"/>
              <a:t>Web</a:t>
            </a:r>
            <a:r>
              <a:rPr lang="ja-JP" altLang="en-US" sz="6000" dirty="0"/>
              <a:t>サイト</a:t>
            </a:r>
            <a:endParaRPr sz="6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15565c702ff_0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目次</a:t>
            </a:r>
            <a:endParaRPr dirty="0"/>
          </a:p>
        </p:txBody>
      </p:sp>
      <p:sp>
        <p:nvSpPr>
          <p:cNvPr id="97" name="Google Shape;97;g15565c702ff_0_5"/>
          <p:cNvSpPr txBox="1">
            <a:spLocks noGrp="1"/>
          </p:cNvSpPr>
          <p:nvPr>
            <p:ph type="body" idx="1"/>
          </p:nvPr>
        </p:nvSpPr>
        <p:spPr>
          <a:xfrm>
            <a:off x="1075267" y="1690825"/>
            <a:ext cx="10278533" cy="4351200"/>
          </a:xfrm>
          <a:prstGeom prst="rect">
            <a:avLst/>
          </a:prstGeom>
          <a:noFill/>
          <a:ln>
            <a:noFill/>
          </a:ln>
        </p:spPr>
        <p:txBody>
          <a:bodyPr spcFirstLastPara="1" wrap="square" lIns="91425" tIns="45700" rIns="91425" bIns="45700" anchor="t" anchorCtr="0">
            <a:normAutofit fontScale="92500" lnSpcReduction="10000"/>
          </a:bodyPr>
          <a:lstStyle/>
          <a:p>
            <a:pPr marL="228600" lvl="0" indent="-50800">
              <a:spcBef>
                <a:spcPts val="0"/>
              </a:spcBef>
              <a:buSzPts val="2800"/>
              <a:buNone/>
            </a:pPr>
            <a:r>
              <a:rPr lang="en-US" sz="4000" dirty="0"/>
              <a:t>1.</a:t>
            </a:r>
            <a:r>
              <a:rPr lang="ja-JP" altLang="ja-JP" sz="4000" dirty="0"/>
              <a:t>目的・背景</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2.</a:t>
            </a:r>
            <a:r>
              <a:rPr lang="ja-JP" altLang="ja-JP" sz="4000" dirty="0"/>
              <a:t>作品・研究の概要</a:t>
            </a:r>
            <a:endParaRPr lang="en-US" altLang="ja-JP" sz="4000" dirty="0"/>
          </a:p>
          <a:p>
            <a:pPr marL="228600" lvl="0" indent="-50800">
              <a:spcBef>
                <a:spcPts val="0"/>
              </a:spcBef>
              <a:buSzPts val="2800"/>
              <a:buNone/>
            </a:pPr>
            <a:endParaRPr lang="en-US" altLang="ja-JP" sz="4000" dirty="0"/>
          </a:p>
          <a:p>
            <a:pPr marL="228600" lvl="0" indent="-50800">
              <a:spcBef>
                <a:spcPts val="0"/>
              </a:spcBef>
              <a:buSzPts val="2800"/>
              <a:buNone/>
            </a:pPr>
            <a:r>
              <a:rPr lang="en-US" altLang="ja-JP" sz="4000" dirty="0"/>
              <a:t>3.</a:t>
            </a:r>
            <a:r>
              <a:rPr lang="ja-JP" altLang="en-US" sz="4000" dirty="0"/>
              <a:t>現在の状況</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4.</a:t>
            </a:r>
            <a:r>
              <a:rPr lang="ja-JP" altLang="ja-JP" sz="4000" dirty="0"/>
              <a:t>今後の流れ</a:t>
            </a:r>
            <a:endParaRPr lang="en-US" altLang="ja-JP" sz="4000" dirty="0"/>
          </a:p>
          <a:p>
            <a:pPr marL="228600" lvl="0" indent="-50800">
              <a:spcBef>
                <a:spcPts val="0"/>
              </a:spcBef>
              <a:buSzPts val="2800"/>
              <a:buNone/>
            </a:pPr>
            <a:endParaRPr lang="en-US" sz="4000" dirty="0"/>
          </a:p>
          <a:p>
            <a:pPr marL="228600" lvl="0" indent="-50800">
              <a:spcBef>
                <a:spcPts val="0"/>
              </a:spcBef>
              <a:buSzPts val="2800"/>
              <a:buNone/>
            </a:pPr>
            <a:r>
              <a:rPr lang="en-US" sz="4000" dirty="0"/>
              <a:t>5.</a:t>
            </a:r>
            <a:r>
              <a:rPr lang="ja-JP" altLang="ja-JP" sz="4000" dirty="0"/>
              <a:t>制作・研究方法</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目的・背景</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a:lnSpc>
                <a:spcPct val="100000"/>
              </a:lnSpc>
            </a:pPr>
            <a:r>
              <a:rPr lang="ja-JP" altLang="en-US" dirty="0"/>
              <a:t>豆田町の観光情報を分かりやすく紹介し、実際に訪れてみたいと思ってもらえる</a:t>
            </a:r>
            <a:r>
              <a:rPr lang="en-US" altLang="ja-JP" dirty="0"/>
              <a:t>Web</a:t>
            </a:r>
            <a:r>
              <a:rPr lang="ja-JP" altLang="en-US" dirty="0"/>
              <a:t>サイトを制作する。</a:t>
            </a:r>
            <a:endParaRPr lang="en-US" altLang="ja-JP" dirty="0"/>
          </a:p>
          <a:p>
            <a:pPr>
              <a:lnSpc>
                <a:spcPct val="100000"/>
              </a:lnSpc>
            </a:pPr>
            <a:endParaRPr lang="ja-JP" altLang="en-US" dirty="0"/>
          </a:p>
          <a:p>
            <a:pPr>
              <a:lnSpc>
                <a:spcPct val="100000"/>
              </a:lnSpc>
            </a:pPr>
            <a:r>
              <a:rPr lang="ja-JP" altLang="en-US" dirty="0"/>
              <a:t>豆田町の歴史や町並み、観光スポットなどの魅力を多くの人に知ってもらいたいと考えたため。</a:t>
            </a:r>
            <a:endParaRPr lang="en-US" altLang="ja-JP"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08;g15565c702ff_2_0">
            <a:extLst>
              <a:ext uri="{FF2B5EF4-FFF2-40B4-BE49-F238E27FC236}">
                <a16:creationId xmlns:a16="http://schemas.microsoft.com/office/drawing/2014/main" id="{F812BF95-CC62-1FE2-E2CB-1213D8CAF70A}"/>
              </a:ext>
            </a:extLst>
          </p:cNvPr>
          <p:cNvSpPr txBox="1">
            <a:spLocks/>
          </p:cNvSpPr>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ct val="90000"/>
              </a:lnSpc>
              <a:buClr>
                <a:schemeClr val="dk1"/>
              </a:buClr>
              <a:buSzPts val="4400"/>
            </a:pPr>
            <a:r>
              <a:rPr lang="ja-JP" altLang="en-US" sz="4400" dirty="0"/>
              <a:t>作品・研究の概要</a:t>
            </a:r>
          </a:p>
        </p:txBody>
      </p:sp>
      <p:sp>
        <p:nvSpPr>
          <p:cNvPr id="3" name="Google Shape;109;g15565c702ff_2_0">
            <a:extLst>
              <a:ext uri="{FF2B5EF4-FFF2-40B4-BE49-F238E27FC236}">
                <a16:creationId xmlns:a16="http://schemas.microsoft.com/office/drawing/2014/main" id="{9E10118D-A945-8818-913B-674E3D16602D}"/>
              </a:ext>
            </a:extLst>
          </p:cNvPr>
          <p:cNvSpPr txBox="1">
            <a:spLocks/>
          </p:cNvSpPr>
          <p:nvPr/>
        </p:nvSpPr>
        <p:spPr>
          <a:xfrm>
            <a:off x="838200" y="1825625"/>
            <a:ext cx="10515600" cy="4351200"/>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r>
              <a:rPr lang="ja-JP" altLang="ja-JP" sz="2800" b="1" dirty="0"/>
              <a:t>研究：豆田町について</a:t>
            </a:r>
            <a:endParaRPr lang="en-US" altLang="ja-JP" sz="2800" b="1" dirty="0"/>
          </a:p>
          <a:p>
            <a:endParaRPr lang="en-US" altLang="ja-JP" sz="2800" b="1" dirty="0"/>
          </a:p>
          <a:p>
            <a:r>
              <a:rPr lang="ja-JP" altLang="ja-JP" sz="2800" b="1" dirty="0"/>
              <a:t>歴史</a:t>
            </a:r>
            <a:endParaRPr lang="ja-JP" altLang="ja-JP" sz="2800" dirty="0"/>
          </a:p>
          <a:p>
            <a:pPr marL="457200" lvl="0" indent="-457200">
              <a:buFont typeface="Arial" panose="020B0604020202020204" pitchFamily="34" charset="0"/>
              <a:buChar char="•"/>
            </a:pPr>
            <a:r>
              <a:rPr lang="ja-JP" altLang="ja-JP" sz="2800" dirty="0"/>
              <a:t>江戸時代に城下町として整備された町 </a:t>
            </a:r>
          </a:p>
          <a:p>
            <a:pPr marL="457200" lvl="0" indent="-457200">
              <a:lnSpc>
                <a:spcPct val="110000"/>
              </a:lnSpc>
              <a:buFont typeface="Arial" panose="020B0604020202020204" pitchFamily="34" charset="0"/>
              <a:buChar char="•"/>
            </a:pPr>
            <a:r>
              <a:rPr lang="ja-JP" altLang="ja-JP" sz="2800" dirty="0"/>
              <a:t>江戸時代の町割りが残っている </a:t>
            </a:r>
            <a:endParaRPr lang="en-US" altLang="ja-JP" sz="2800" dirty="0"/>
          </a:p>
          <a:p>
            <a:pPr lvl="0">
              <a:lnSpc>
                <a:spcPct val="110000"/>
              </a:lnSpc>
            </a:pPr>
            <a:endParaRPr lang="ja-JP" altLang="ja-JP" sz="2800" dirty="0"/>
          </a:p>
          <a:p>
            <a:pPr>
              <a:lnSpc>
                <a:spcPct val="110000"/>
              </a:lnSpc>
            </a:pPr>
            <a:r>
              <a:rPr lang="ja-JP" altLang="ja-JP" sz="2800" b="1" dirty="0"/>
              <a:t>町並み・文化</a:t>
            </a:r>
            <a:endParaRPr lang="ja-JP" altLang="ja-JP" sz="2800" dirty="0"/>
          </a:p>
          <a:p>
            <a:pPr marL="457200" lvl="0" indent="-457200">
              <a:buFont typeface="Arial" panose="020B0604020202020204" pitchFamily="34" charset="0"/>
              <a:buChar char="•"/>
            </a:pPr>
            <a:r>
              <a:rPr lang="ja-JP" altLang="ja-JP" sz="2800" dirty="0"/>
              <a:t>白壁の建物や古い町家が残る歴史的な町並み </a:t>
            </a:r>
          </a:p>
          <a:p>
            <a:pPr marL="457200" lvl="0" indent="-457200">
              <a:buFont typeface="Arial" panose="020B0604020202020204" pitchFamily="34" charset="0"/>
              <a:buChar char="•"/>
            </a:pPr>
            <a:r>
              <a:rPr lang="ja-JP" altLang="ja-JP" sz="2800" dirty="0"/>
              <a:t>天領日田の歴史や文化を感じられる地域 </a:t>
            </a:r>
            <a:endParaRPr lang="en-US" altLang="ja-JP" sz="2800" dirty="0"/>
          </a:p>
          <a:p>
            <a:pPr lvl="0"/>
            <a:endParaRPr lang="ja-JP" altLang="ja-JP" sz="2800" dirty="0"/>
          </a:p>
          <a:p>
            <a:r>
              <a:rPr lang="ja-JP" altLang="ja-JP" sz="2800" b="1" dirty="0"/>
              <a:t>観光</a:t>
            </a:r>
            <a:endParaRPr lang="ja-JP" altLang="ja-JP" sz="2800" dirty="0"/>
          </a:p>
          <a:p>
            <a:pPr marL="457200" lvl="0" indent="-457200">
              <a:buFont typeface="Arial" panose="020B0604020202020204" pitchFamily="34" charset="0"/>
              <a:buChar char="•"/>
            </a:pPr>
            <a:r>
              <a:rPr lang="ja-JP" altLang="ja-JP" sz="2800" dirty="0"/>
              <a:t>草野本家や薫長酒蔵資料館などの観光スポットがある </a:t>
            </a:r>
          </a:p>
          <a:p>
            <a:pPr marL="457200" lvl="0" indent="-457200">
              <a:buFont typeface="Arial" panose="020B0604020202020204" pitchFamily="34" charset="0"/>
              <a:buChar char="•"/>
            </a:pPr>
            <a:r>
              <a:rPr lang="ja-JP" altLang="ja-JP" sz="2800" dirty="0"/>
              <a:t>グルメやお店などもあり、町並みを歩きながら観光できる</a:t>
            </a:r>
          </a:p>
          <a:p>
            <a:pPr marL="114300"/>
            <a:endParaRPr lang="ja-JP" altLang="en-US" sz="2800" dirty="0"/>
          </a:p>
          <a:p>
            <a:pPr marL="228600" indent="-50800">
              <a:lnSpc>
                <a:spcPct val="90000"/>
              </a:lnSpc>
              <a:buClr>
                <a:schemeClr val="dk1"/>
              </a:buClr>
              <a:buSzPts val="2800"/>
            </a:pPr>
            <a:endParaRPr lang="ja-JP" altLang="en-US" dirty="0"/>
          </a:p>
        </p:txBody>
      </p:sp>
    </p:spTree>
    <p:extLst>
      <p:ext uri="{BB962C8B-B14F-4D97-AF65-F5344CB8AC3E}">
        <p14:creationId xmlns:p14="http://schemas.microsoft.com/office/powerpoint/2010/main" val="3534152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15565c702ff_2_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作品・研究の概要</a:t>
            </a:r>
            <a:endParaRPr dirty="0"/>
          </a:p>
        </p:txBody>
      </p:sp>
      <p:sp>
        <p:nvSpPr>
          <p:cNvPr id="109" name="Google Shape;109;g15565c702ff_2_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114300" indent="0">
              <a:buNone/>
            </a:pPr>
            <a:r>
              <a:rPr lang="ja-JP" altLang="ja-JP" b="1" dirty="0"/>
              <a:t>① Webサイトの制作</a:t>
            </a:r>
          </a:p>
          <a:p>
            <a:r>
              <a:rPr lang="ja-JP" altLang="ja-JP" dirty="0"/>
              <a:t>豆田町</a:t>
            </a:r>
            <a:r>
              <a:rPr lang="ja-JP" altLang="en-US" dirty="0"/>
              <a:t>について</a:t>
            </a:r>
            <a:r>
              <a:rPr lang="ja-JP" altLang="ja-JP" dirty="0"/>
              <a:t>・観光スポット・グルメ・アクセス情報などを紹介する。</a:t>
            </a:r>
            <a:endParaRPr lang="en-US" altLang="ja-JP" dirty="0"/>
          </a:p>
          <a:p>
            <a:endParaRPr lang="ja-JP" altLang="ja-JP" dirty="0"/>
          </a:p>
          <a:p>
            <a:pPr marL="114300" indent="0">
              <a:buNone/>
            </a:pPr>
            <a:r>
              <a:rPr lang="ja-JP" altLang="ja-JP" b="1" dirty="0"/>
              <a:t>② 3Dマップの制作</a:t>
            </a:r>
          </a:p>
          <a:p>
            <a:r>
              <a:rPr lang="ja-JP" altLang="ja-JP" dirty="0"/>
              <a:t>Three.jsを使用し、豆田町の街並みや観光スポットを立体的に表現する。</a:t>
            </a:r>
          </a:p>
          <a:p>
            <a:pPr marL="228600" lvl="0" indent="-50800" algn="l" rtl="0">
              <a:lnSpc>
                <a:spcPct val="90000"/>
              </a:lnSpc>
              <a:spcBef>
                <a:spcPts val="0"/>
              </a:spcBef>
              <a:spcAft>
                <a:spcPts val="0"/>
              </a:spcAft>
              <a:buClr>
                <a:schemeClr val="dk1"/>
              </a:buClr>
              <a:buSzPts val="2800"/>
              <a:buNone/>
            </a:pP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08;g15565c702ff_2_0">
            <a:extLst>
              <a:ext uri="{FF2B5EF4-FFF2-40B4-BE49-F238E27FC236}">
                <a16:creationId xmlns:a16="http://schemas.microsoft.com/office/drawing/2014/main" id="{85CCF1D9-0CC7-C910-7BB8-EE38E74F5A2E}"/>
              </a:ext>
            </a:extLst>
          </p:cNvPr>
          <p:cNvSpPr txBox="1">
            <a:spLocks/>
          </p:cNvSpPr>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ct val="90000"/>
              </a:lnSpc>
              <a:buClr>
                <a:schemeClr val="dk1"/>
              </a:buClr>
              <a:buSzPts val="4400"/>
            </a:pPr>
            <a:r>
              <a:rPr lang="ja-JP" altLang="en-US" sz="4400" dirty="0"/>
              <a:t>現在の状況</a:t>
            </a:r>
            <a:endParaRPr lang="en-US" altLang="ja-JP" sz="4400" dirty="0"/>
          </a:p>
        </p:txBody>
      </p:sp>
      <p:sp>
        <p:nvSpPr>
          <p:cNvPr id="5" name="Google Shape;109;g15565c702ff_2_0">
            <a:extLst>
              <a:ext uri="{FF2B5EF4-FFF2-40B4-BE49-F238E27FC236}">
                <a16:creationId xmlns:a16="http://schemas.microsoft.com/office/drawing/2014/main" id="{8BB6C46C-CD7C-CB2B-9B94-D01F1EC8984B}"/>
              </a:ext>
            </a:extLst>
          </p:cNvPr>
          <p:cNvSpPr txBox="1">
            <a:spLocks/>
          </p:cNvSpPr>
          <p:nvPr/>
        </p:nvSpPr>
        <p:spPr>
          <a:xfrm>
            <a:off x="838200" y="1825625"/>
            <a:ext cx="5588000" cy="449897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r>
              <a:rPr lang="ja-JP" altLang="ja-JP" sz="2600" b="1" dirty="0"/>
              <a:t>① Webサイト</a:t>
            </a:r>
          </a:p>
          <a:p>
            <a:r>
              <a:rPr lang="ja-JP" altLang="ja-JP" sz="2600" b="1" dirty="0"/>
              <a:t>制作済み</a:t>
            </a:r>
            <a:endParaRPr lang="ja-JP" altLang="ja-JP" sz="2600" dirty="0"/>
          </a:p>
          <a:p>
            <a:pPr lvl="0"/>
            <a:r>
              <a:rPr lang="ja-JP" altLang="ja-JP" sz="2600" dirty="0"/>
              <a:t>TOPページ </a:t>
            </a:r>
            <a:r>
              <a:rPr lang="ja-JP" altLang="en-US" sz="2600" dirty="0"/>
              <a:t>、</a:t>
            </a:r>
            <a:r>
              <a:rPr lang="ja-JP" altLang="ja-JP" sz="2600" dirty="0"/>
              <a:t>豆田町について </a:t>
            </a:r>
          </a:p>
          <a:p>
            <a:pPr lvl="0"/>
            <a:r>
              <a:rPr lang="ja-JP" altLang="ja-JP" sz="2600" dirty="0"/>
              <a:t>観光スポット </a:t>
            </a:r>
            <a:endParaRPr lang="en-US" altLang="ja-JP" sz="2600" dirty="0"/>
          </a:p>
          <a:p>
            <a:pPr lvl="0"/>
            <a:endParaRPr lang="ja-JP" altLang="ja-JP" sz="2600" dirty="0"/>
          </a:p>
          <a:p>
            <a:r>
              <a:rPr lang="ja-JP" altLang="ja-JP" sz="2600" b="1" dirty="0"/>
              <a:t>制作中・調整</a:t>
            </a:r>
            <a:endParaRPr lang="ja-JP" altLang="ja-JP" sz="2600" dirty="0"/>
          </a:p>
          <a:p>
            <a:pPr lvl="0"/>
            <a:r>
              <a:rPr lang="ja-JP" altLang="ja-JP" sz="2600" dirty="0"/>
              <a:t>グルメ・お店ページ </a:t>
            </a:r>
            <a:endParaRPr lang="en-US" altLang="ja-JP" sz="2600" dirty="0"/>
          </a:p>
          <a:p>
            <a:pPr lvl="0"/>
            <a:r>
              <a:rPr lang="ja-JP" altLang="ja-JP" sz="2600" dirty="0"/>
              <a:t>アクセスページ </a:t>
            </a:r>
          </a:p>
          <a:p>
            <a:pPr lvl="0"/>
            <a:r>
              <a:rPr lang="ja-JP" altLang="ja-JP" sz="2600" dirty="0"/>
              <a:t>各ページのレイアウト調整・修正 </a:t>
            </a:r>
          </a:p>
          <a:p>
            <a:pPr lvl="0"/>
            <a:r>
              <a:rPr lang="ja-JP" altLang="ja-JP" sz="2600" dirty="0"/>
              <a:t>不足している写真の補充・修正 </a:t>
            </a:r>
          </a:p>
          <a:p>
            <a:r>
              <a:rPr lang="ja-JP" altLang="ja-JP" sz="2600" b="1" dirty="0"/>
              <a:t>▶ </a:t>
            </a:r>
            <a:r>
              <a:rPr lang="ja-JP" altLang="ja-JP" sz="2600" b="1" dirty="0">
                <a:hlinkClick r:id="rId3"/>
              </a:rPr>
              <a:t>Webサイト</a:t>
            </a:r>
            <a:r>
              <a:rPr lang="ja-JP" altLang="en-US" sz="2600" b="1" dirty="0">
                <a:hlinkClick r:id="rId3"/>
              </a:rPr>
              <a:t>を</a:t>
            </a:r>
            <a:r>
              <a:rPr lang="ja-JP" altLang="ja-JP" sz="2600" b="1" dirty="0">
                <a:hlinkClick r:id="rId3"/>
              </a:rPr>
              <a:t>確認</a:t>
            </a:r>
            <a:endParaRPr lang="ja-JP" altLang="ja-JP" sz="2600" dirty="0"/>
          </a:p>
        </p:txBody>
      </p:sp>
      <p:sp>
        <p:nvSpPr>
          <p:cNvPr id="7" name="Google Shape;109;g15565c702ff_2_0">
            <a:extLst>
              <a:ext uri="{FF2B5EF4-FFF2-40B4-BE49-F238E27FC236}">
                <a16:creationId xmlns:a16="http://schemas.microsoft.com/office/drawing/2014/main" id="{7EB0C2B3-CBA7-8BA6-B86D-A091739A59A4}"/>
              </a:ext>
            </a:extLst>
          </p:cNvPr>
          <p:cNvSpPr txBox="1">
            <a:spLocks/>
          </p:cNvSpPr>
          <p:nvPr/>
        </p:nvSpPr>
        <p:spPr>
          <a:xfrm>
            <a:off x="6680200" y="1825625"/>
            <a:ext cx="5012267" cy="4351200"/>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ct val="120000"/>
              </a:lnSpc>
            </a:pPr>
            <a:r>
              <a:rPr lang="ja-JP" altLang="ja-JP" sz="2800" b="1" dirty="0"/>
              <a:t>② 3Dマップ</a:t>
            </a:r>
          </a:p>
          <a:p>
            <a:pPr>
              <a:lnSpc>
                <a:spcPct val="120000"/>
              </a:lnSpc>
            </a:pPr>
            <a:r>
              <a:rPr lang="ja-JP" altLang="ja-JP" sz="2800" b="1" dirty="0"/>
              <a:t>制作済み</a:t>
            </a:r>
            <a:endParaRPr lang="ja-JP" altLang="ja-JP" sz="2800" dirty="0"/>
          </a:p>
          <a:p>
            <a:pPr lvl="0">
              <a:lnSpc>
                <a:spcPct val="120000"/>
              </a:lnSpc>
            </a:pPr>
            <a:r>
              <a:rPr lang="ja-JP" altLang="ja-JP" sz="2800" dirty="0"/>
              <a:t>Webサイトへの組み込み </a:t>
            </a:r>
          </a:p>
          <a:p>
            <a:pPr lvl="0">
              <a:lnSpc>
                <a:spcPct val="120000"/>
              </a:lnSpc>
            </a:pPr>
            <a:r>
              <a:rPr lang="ja-JP" altLang="ja-JP" sz="2800" dirty="0"/>
              <a:t>3Dマップの基本的な操作 </a:t>
            </a:r>
            <a:endParaRPr lang="en-US" altLang="ja-JP" sz="2800" dirty="0"/>
          </a:p>
          <a:p>
            <a:pPr lvl="0">
              <a:lnSpc>
                <a:spcPct val="120000"/>
              </a:lnSpc>
            </a:pPr>
            <a:endParaRPr lang="ja-JP" altLang="ja-JP" sz="2800" dirty="0"/>
          </a:p>
          <a:p>
            <a:pPr>
              <a:lnSpc>
                <a:spcPct val="120000"/>
              </a:lnSpc>
            </a:pPr>
            <a:r>
              <a:rPr lang="ja-JP" altLang="ja-JP" sz="2800" b="1" dirty="0"/>
              <a:t>制作中・調整</a:t>
            </a:r>
            <a:endParaRPr lang="ja-JP" altLang="ja-JP" sz="2800" dirty="0"/>
          </a:p>
          <a:p>
            <a:pPr lvl="0">
              <a:lnSpc>
                <a:spcPct val="120000"/>
              </a:lnSpc>
            </a:pPr>
            <a:r>
              <a:rPr lang="ja-JP" altLang="ja-JP" sz="2800" dirty="0"/>
              <a:t>建物・道路の配置調整 </a:t>
            </a:r>
          </a:p>
          <a:p>
            <a:pPr lvl="0">
              <a:lnSpc>
                <a:spcPct val="120000"/>
              </a:lnSpc>
            </a:pPr>
            <a:r>
              <a:rPr lang="ja-JP" altLang="ja-JP" sz="2800" dirty="0"/>
              <a:t>Blenderでの建物の3Dモデル制作 </a:t>
            </a:r>
          </a:p>
          <a:p>
            <a:pPr>
              <a:lnSpc>
                <a:spcPct val="120000"/>
              </a:lnSpc>
            </a:pPr>
            <a:r>
              <a:rPr lang="ja-JP" altLang="ja-JP" sz="2800" b="1" dirty="0"/>
              <a:t>▶ </a:t>
            </a:r>
            <a:r>
              <a:rPr lang="ja-JP" altLang="ja-JP" sz="2800" b="1" dirty="0">
                <a:hlinkClick r:id="rId4"/>
              </a:rPr>
              <a:t>3Dマップを確認</a:t>
            </a:r>
            <a:endParaRPr lang="ja-JP" altLang="ja-JP" sz="2800" dirty="0"/>
          </a:p>
        </p:txBody>
      </p:sp>
    </p:spTree>
    <p:extLst>
      <p:ext uri="{BB962C8B-B14F-4D97-AF65-F5344CB8AC3E}">
        <p14:creationId xmlns:p14="http://schemas.microsoft.com/office/powerpoint/2010/main" val="3741643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g15565c702ff_2_5"/>
          <p:cNvSpPr txBox="1">
            <a:spLocks noGrp="1"/>
          </p:cNvSpPr>
          <p:nvPr>
            <p:ph type="title"/>
          </p:nvPr>
        </p:nvSpPr>
        <p:spPr>
          <a:xfrm>
            <a:off x="762000" y="642798"/>
            <a:ext cx="10515600" cy="1380066"/>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今後の流れ</a:t>
            </a:r>
            <a:endParaRPr dirty="0"/>
          </a:p>
          <a:p>
            <a:pPr marL="0" lvl="0" indent="0" algn="l" rtl="0">
              <a:lnSpc>
                <a:spcPct val="90000"/>
              </a:lnSpc>
              <a:spcBef>
                <a:spcPts val="0"/>
              </a:spcBef>
              <a:spcAft>
                <a:spcPts val="0"/>
              </a:spcAft>
              <a:buClr>
                <a:schemeClr val="dk1"/>
              </a:buClr>
              <a:buSzPts val="4400"/>
              <a:buFont typeface="Arial"/>
              <a:buNone/>
            </a:pPr>
            <a:endParaRPr dirty="0"/>
          </a:p>
        </p:txBody>
      </p:sp>
      <p:graphicFrame>
        <p:nvGraphicFramePr>
          <p:cNvPr id="4" name="表 3">
            <a:extLst>
              <a:ext uri="{FF2B5EF4-FFF2-40B4-BE49-F238E27FC236}">
                <a16:creationId xmlns:a16="http://schemas.microsoft.com/office/drawing/2014/main" id="{CCBC3424-E81A-4F7C-1D76-DAC2EA37453B}"/>
              </a:ext>
            </a:extLst>
          </p:cNvPr>
          <p:cNvGraphicFramePr>
            <a:graphicFrameLocks noGrp="1"/>
          </p:cNvGraphicFramePr>
          <p:nvPr>
            <p:extLst>
              <p:ext uri="{D42A27DB-BD31-4B8C-83A1-F6EECF244321}">
                <p14:modId xmlns:p14="http://schemas.microsoft.com/office/powerpoint/2010/main" val="2530660516"/>
              </p:ext>
            </p:extLst>
          </p:nvPr>
        </p:nvGraphicFramePr>
        <p:xfrm>
          <a:off x="762000" y="1690825"/>
          <a:ext cx="10668000" cy="4465110"/>
        </p:xfrm>
        <a:graphic>
          <a:graphicData uri="http://schemas.openxmlformats.org/drawingml/2006/table">
            <a:tbl>
              <a:tblPr firstCol="1" bandRow="1">
                <a:tableStyleId>{5C22544A-7EE6-4342-B048-85BDC9FD1C3A}</a:tableStyleId>
              </a:tblPr>
              <a:tblGrid>
                <a:gridCol w="2762024">
                  <a:extLst>
                    <a:ext uri="{9D8B030D-6E8A-4147-A177-3AD203B41FA5}">
                      <a16:colId xmlns:a16="http://schemas.microsoft.com/office/drawing/2014/main" val="271450046"/>
                    </a:ext>
                  </a:extLst>
                </a:gridCol>
                <a:gridCol w="7905976">
                  <a:extLst>
                    <a:ext uri="{9D8B030D-6E8A-4147-A177-3AD203B41FA5}">
                      <a16:colId xmlns:a16="http://schemas.microsoft.com/office/drawing/2014/main" val="1606014004"/>
                    </a:ext>
                  </a:extLst>
                </a:gridCol>
              </a:tblGrid>
              <a:tr h="2232555">
                <a:tc>
                  <a:txBody>
                    <a:bodyPr/>
                    <a:lstStyle/>
                    <a:p>
                      <a:pPr algn="ctr"/>
                      <a:r>
                        <a:rPr lang="ja-JP" altLang="ja-JP" sz="4400" dirty="0">
                          <a:solidFill>
                            <a:schemeClr val="bg1"/>
                          </a:solidFill>
                        </a:rPr>
                        <a:t>10～11月</a:t>
                      </a:r>
                      <a:endParaRPr kumimoji="1" lang="ja-JP" altLang="en-US" sz="4400" dirty="0">
                        <a:solidFill>
                          <a:schemeClr val="bg1"/>
                        </a:solidFill>
                      </a:endParaRPr>
                    </a:p>
                  </a:txBody>
                  <a:tcPr anchor="ctr"/>
                </a:tc>
                <a:tc>
                  <a:txBody>
                    <a:bodyPr/>
                    <a:lstStyle/>
                    <a:p>
                      <a:r>
                        <a:rPr lang="ja-JP" altLang="ja-JP" sz="2800" b="1" dirty="0">
                          <a:solidFill>
                            <a:schemeClr val="tx1"/>
                          </a:solidFill>
                        </a:rPr>
                        <a:t>Webサイト・3Dマップの制作</a:t>
                      </a:r>
                    </a:p>
                    <a:p>
                      <a:r>
                        <a:rPr lang="ja-JP" altLang="ja-JP" sz="2800" dirty="0">
                          <a:solidFill>
                            <a:schemeClr val="tx1"/>
                          </a:solidFill>
                        </a:rPr>
                        <a:t>・各ページのデザイン・レイアウトを整える。</a:t>
                      </a:r>
                    </a:p>
                    <a:p>
                      <a:r>
                        <a:rPr lang="ja-JP" altLang="ja-JP" sz="2800" dirty="0">
                          <a:solidFill>
                            <a:schemeClr val="tx1"/>
                          </a:solidFill>
                        </a:rPr>
                        <a:t>・写真の補充や既存写真の改善を行う。</a:t>
                      </a:r>
                    </a:p>
                    <a:p>
                      <a:r>
                        <a:rPr lang="ja-JP" altLang="ja-JP" sz="2800" dirty="0">
                          <a:solidFill>
                            <a:schemeClr val="tx1"/>
                          </a:solidFill>
                        </a:rPr>
                        <a:t>・Blenderで建物を制作し、Three.jsでWebサイトに組み込む。</a:t>
                      </a:r>
                    </a:p>
                  </a:txBody>
                  <a:tcPr/>
                </a:tc>
                <a:extLst>
                  <a:ext uri="{0D108BD9-81ED-4DB2-BD59-A6C34878D82A}">
                    <a16:rowId xmlns:a16="http://schemas.microsoft.com/office/drawing/2014/main" val="2825682563"/>
                  </a:ext>
                </a:extLst>
              </a:tr>
              <a:tr h="2232555">
                <a:tc>
                  <a:txBody>
                    <a:bodyPr/>
                    <a:lstStyle/>
                    <a:p>
                      <a:pPr algn="ctr"/>
                      <a:r>
                        <a:rPr lang="ja-JP" altLang="ja-JP" sz="4400" b="1" dirty="0">
                          <a:solidFill>
                            <a:schemeClr val="bg1"/>
                          </a:solidFill>
                        </a:rPr>
                        <a:t>12月</a:t>
                      </a:r>
                      <a:endParaRPr kumimoji="1" lang="ja-JP" altLang="en-US" sz="4400" b="1" dirty="0">
                        <a:solidFill>
                          <a:schemeClr val="bg1"/>
                        </a:solidFill>
                      </a:endParaRPr>
                    </a:p>
                  </a:txBody>
                  <a:tcPr anchor="ctr"/>
                </a:tc>
                <a:tc>
                  <a:txBody>
                    <a:bodyPr/>
                    <a:lstStyle/>
                    <a:p>
                      <a:r>
                        <a:rPr lang="ja-JP" altLang="ja-JP" sz="2800" b="1" dirty="0"/>
                        <a:t>動作確認・修正、最終調整・完成</a:t>
                      </a:r>
                    </a:p>
                    <a:p>
                      <a:r>
                        <a:rPr lang="ja-JP" altLang="ja-JP" sz="2800" dirty="0"/>
                        <a:t>・各ページや3Dマップの動作確認を行い、表示や操作性を改善する。</a:t>
                      </a:r>
                    </a:p>
                    <a:p>
                      <a:r>
                        <a:rPr lang="ja-JP" altLang="ja-JP" sz="2800" dirty="0"/>
                        <a:t>・全体の仕上げと最終確認を行い、卒業制作を完成させる。</a:t>
                      </a:r>
                    </a:p>
                  </a:txBody>
                  <a:tcPr/>
                </a:tc>
                <a:extLst>
                  <a:ext uri="{0D108BD9-81ED-4DB2-BD59-A6C34878D82A}">
                    <a16:rowId xmlns:a16="http://schemas.microsoft.com/office/drawing/2014/main" val="9126331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g15565c702ff_2_1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制作・研究方法</a:t>
            </a:r>
            <a:endParaRPr dirty="0"/>
          </a:p>
        </p:txBody>
      </p:sp>
      <p:sp>
        <p:nvSpPr>
          <p:cNvPr id="5" name="テキスト ボックス 4">
            <a:extLst>
              <a:ext uri="{FF2B5EF4-FFF2-40B4-BE49-F238E27FC236}">
                <a16:creationId xmlns:a16="http://schemas.microsoft.com/office/drawing/2014/main" id="{7EE8B509-B497-137D-8E56-049AD5C7F80D}"/>
              </a:ext>
            </a:extLst>
          </p:cNvPr>
          <p:cNvSpPr txBox="1"/>
          <p:nvPr/>
        </p:nvSpPr>
        <p:spPr>
          <a:xfrm>
            <a:off x="524933" y="1476117"/>
            <a:ext cx="10828867" cy="5016758"/>
          </a:xfrm>
          <a:prstGeom prst="rect">
            <a:avLst/>
          </a:prstGeom>
          <a:noFill/>
        </p:spPr>
        <p:txBody>
          <a:bodyPr wrap="square" rtlCol="0">
            <a:spAutoFit/>
          </a:bodyPr>
          <a:lstStyle/>
          <a:p>
            <a:pPr>
              <a:lnSpc>
                <a:spcPct val="150000"/>
              </a:lnSpc>
            </a:pPr>
            <a:r>
              <a:rPr lang="en-US" altLang="ja-JP" sz="2000" b="1" dirty="0"/>
              <a:t>1.</a:t>
            </a:r>
            <a:r>
              <a:rPr lang="ja-JP" altLang="en-US" sz="2000" b="1" dirty="0"/>
              <a:t>使用ソフト</a:t>
            </a:r>
          </a:p>
          <a:p>
            <a:pPr marL="342900" indent="-342900">
              <a:lnSpc>
                <a:spcPct val="150000"/>
              </a:lnSpc>
              <a:buFont typeface="Arial" panose="020B0604020202020204" pitchFamily="34" charset="0"/>
              <a:buChar char="•"/>
            </a:pPr>
            <a:r>
              <a:rPr lang="en-US" altLang="ja-JP" sz="2000" dirty="0"/>
              <a:t>Visual Studio Code</a:t>
            </a:r>
            <a:r>
              <a:rPr lang="ja-JP" altLang="en-US" sz="2000" dirty="0"/>
              <a:t>　    </a:t>
            </a:r>
            <a:r>
              <a:rPr lang="en-US" altLang="ja-JP" sz="2000" dirty="0"/>
              <a:t>HTML</a:t>
            </a:r>
            <a:r>
              <a:rPr lang="ja-JP" altLang="en-US" sz="2000" dirty="0"/>
              <a:t>・</a:t>
            </a:r>
            <a:r>
              <a:rPr lang="en-US" altLang="ja-JP" sz="2000" dirty="0"/>
              <a:t>CSS</a:t>
            </a:r>
            <a:r>
              <a:rPr lang="ja-JP" altLang="en-US" sz="2000" dirty="0"/>
              <a:t>・</a:t>
            </a:r>
            <a:r>
              <a:rPr lang="en-US" altLang="ja-JP" sz="2000" dirty="0"/>
              <a:t>JavaScript</a:t>
            </a:r>
            <a:r>
              <a:rPr lang="ja-JP" altLang="en-US" sz="2000" dirty="0"/>
              <a:t>の編集、</a:t>
            </a:r>
            <a:r>
              <a:rPr lang="en-US" altLang="ja-JP" sz="2000" dirty="0"/>
              <a:t>Web</a:t>
            </a:r>
            <a:r>
              <a:rPr lang="ja-JP" altLang="en-US" sz="2000" dirty="0"/>
              <a:t>サイト制作</a:t>
            </a:r>
            <a:endParaRPr lang="en-US" altLang="ja-JP" sz="2000" dirty="0"/>
          </a:p>
          <a:p>
            <a:pPr marL="342900" indent="-342900">
              <a:lnSpc>
                <a:spcPct val="150000"/>
              </a:lnSpc>
              <a:buFont typeface="Arial" panose="020B0604020202020204" pitchFamily="34" charset="0"/>
              <a:buChar char="•"/>
            </a:pPr>
            <a:r>
              <a:rPr lang="en-US" altLang="ja-JP" sz="2000" dirty="0"/>
              <a:t>Blender</a:t>
            </a:r>
            <a:r>
              <a:rPr lang="ja-JP" altLang="en-US" sz="2000" dirty="0"/>
              <a:t>　　　　　　    建物の</a:t>
            </a:r>
            <a:r>
              <a:rPr lang="en-US" altLang="ja-JP" sz="2000" dirty="0"/>
              <a:t>3D</a:t>
            </a:r>
            <a:r>
              <a:rPr lang="ja-JP" altLang="en-US" sz="2000" dirty="0"/>
              <a:t>モデル制作</a:t>
            </a:r>
            <a:endParaRPr lang="en-US" altLang="ja-JP" sz="2000" dirty="0"/>
          </a:p>
          <a:p>
            <a:pPr marL="342900" indent="-342900">
              <a:lnSpc>
                <a:spcPct val="150000"/>
              </a:lnSpc>
              <a:buFont typeface="Arial" panose="020B0604020202020204" pitchFamily="34" charset="0"/>
              <a:buChar char="•"/>
            </a:pPr>
            <a:r>
              <a:rPr lang="en-US" altLang="ja-JP" sz="2000" dirty="0"/>
              <a:t>Three.js</a:t>
            </a:r>
            <a:r>
              <a:rPr lang="ja-JP" altLang="en-US" sz="2000" dirty="0"/>
              <a:t>　　　　　　   </a:t>
            </a:r>
            <a:r>
              <a:rPr lang="en-US" altLang="ja-JP" sz="2000" dirty="0"/>
              <a:t>Web</a:t>
            </a:r>
            <a:r>
              <a:rPr lang="ja-JP" altLang="en-US" sz="2000" dirty="0"/>
              <a:t>サイト上で</a:t>
            </a:r>
            <a:r>
              <a:rPr lang="en-US" altLang="ja-JP" sz="2000" dirty="0"/>
              <a:t>3D</a:t>
            </a:r>
            <a:r>
              <a:rPr lang="ja-JP" altLang="en-US" sz="2000" dirty="0"/>
              <a:t>マップを表示・操作するために使用</a:t>
            </a:r>
            <a:endParaRPr lang="en-US" altLang="ja-JP" sz="2000" dirty="0"/>
          </a:p>
          <a:p>
            <a:pPr marL="342900" indent="-342900">
              <a:lnSpc>
                <a:spcPct val="150000"/>
              </a:lnSpc>
              <a:buFont typeface="Arial" panose="020B0604020202020204" pitchFamily="34" charset="0"/>
              <a:buChar char="•"/>
            </a:pPr>
            <a:r>
              <a:rPr lang="en-US" altLang="ja-JP" sz="2000" dirty="0"/>
              <a:t>Adobe Photoshop</a:t>
            </a:r>
            <a:r>
              <a:rPr lang="ja-JP" altLang="en-US" sz="2000" dirty="0"/>
              <a:t>　　   写真の加工・編集（使用する場合）</a:t>
            </a:r>
          </a:p>
          <a:p>
            <a:pPr>
              <a:lnSpc>
                <a:spcPct val="150000"/>
              </a:lnSpc>
            </a:pPr>
            <a:r>
              <a:rPr lang="en-US" altLang="ja-JP" sz="2000" b="1" dirty="0"/>
              <a:t>2.</a:t>
            </a:r>
            <a:r>
              <a:rPr lang="ja-JP" altLang="en-US" sz="2000" b="1" dirty="0"/>
              <a:t>使用機材</a:t>
            </a:r>
          </a:p>
          <a:p>
            <a:pPr marL="342900" indent="-342900">
              <a:lnSpc>
                <a:spcPct val="150000"/>
              </a:lnSpc>
              <a:buFont typeface="Arial" panose="020B0604020202020204" pitchFamily="34" charset="0"/>
              <a:buChar char="•"/>
            </a:pPr>
            <a:r>
              <a:rPr lang="ja-JP" altLang="en-US" sz="2000" dirty="0"/>
              <a:t>ノートパソコン（</a:t>
            </a:r>
            <a:r>
              <a:rPr lang="en-US" altLang="ja-JP" sz="2000" dirty="0"/>
              <a:t>Web</a:t>
            </a:r>
            <a:r>
              <a:rPr lang="ja-JP" altLang="en-US" sz="2000" dirty="0"/>
              <a:t>サイト・</a:t>
            </a:r>
            <a:r>
              <a:rPr lang="en-US" altLang="ja-JP" sz="2000" dirty="0"/>
              <a:t>3D</a:t>
            </a:r>
            <a:r>
              <a:rPr lang="ja-JP" altLang="en-US" sz="2000" dirty="0"/>
              <a:t>モデルの制作）</a:t>
            </a:r>
          </a:p>
          <a:p>
            <a:pPr marL="342900" indent="-342900">
              <a:lnSpc>
                <a:spcPct val="150000"/>
              </a:lnSpc>
              <a:buFont typeface="Arial" panose="020B0604020202020204" pitchFamily="34" charset="0"/>
              <a:buChar char="•"/>
            </a:pPr>
            <a:r>
              <a:rPr lang="ja-JP" altLang="en-US" sz="2000" dirty="0"/>
              <a:t>マウス（</a:t>
            </a:r>
            <a:r>
              <a:rPr lang="en-US" altLang="ja-JP" sz="2000" dirty="0"/>
              <a:t>PC</a:t>
            </a:r>
            <a:r>
              <a:rPr lang="ja-JP" altLang="en-US" sz="2000" dirty="0"/>
              <a:t>操作・</a:t>
            </a:r>
            <a:r>
              <a:rPr lang="en-US" altLang="ja-JP" sz="2000" dirty="0"/>
              <a:t>3D</a:t>
            </a:r>
            <a:r>
              <a:rPr lang="ja-JP" altLang="en-US" sz="2000" dirty="0"/>
              <a:t>モデル制作）</a:t>
            </a:r>
          </a:p>
          <a:p>
            <a:pPr marL="342900" indent="-342900">
              <a:lnSpc>
                <a:spcPct val="150000"/>
              </a:lnSpc>
              <a:buFont typeface="Arial" panose="020B0604020202020204" pitchFamily="34" charset="0"/>
              <a:buChar char="•"/>
            </a:pPr>
            <a:r>
              <a:rPr lang="ja-JP" altLang="en-US" sz="2000" dirty="0"/>
              <a:t>スマートフォン（</a:t>
            </a:r>
            <a:r>
              <a:rPr lang="en-US" altLang="ja-JP" sz="2000" dirty="0"/>
              <a:t>Web</a:t>
            </a:r>
            <a:r>
              <a:rPr lang="ja-JP" altLang="en-US" sz="2000" dirty="0"/>
              <a:t>サイトの表示確認・写真撮影）</a:t>
            </a:r>
          </a:p>
          <a:p>
            <a:pPr>
              <a:lnSpc>
                <a:spcPct val="150000"/>
              </a:lnSpc>
            </a:pPr>
            <a:r>
              <a:rPr lang="en-US" altLang="ja-JP" sz="2000" b="1" dirty="0"/>
              <a:t>3.</a:t>
            </a:r>
            <a:r>
              <a:rPr lang="ja-JP" altLang="en-US" sz="2000" b="1" dirty="0"/>
              <a:t>参照サイト</a:t>
            </a:r>
          </a:p>
          <a:p>
            <a:pPr marL="342900" indent="-342900">
              <a:buFont typeface="Arial" panose="020B0604020202020204" pitchFamily="34" charset="0"/>
              <a:buChar char="•"/>
            </a:pPr>
            <a:r>
              <a:rPr kumimoji="1" lang="en-US" altLang="ja-JP" sz="2000" dirty="0"/>
              <a:t>google</a:t>
            </a:r>
            <a:endParaRPr kumimoji="1" lang="ja-JP" altLang="en-US" sz="2000" dirty="0"/>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1143</Words>
  <Application>Microsoft Office PowerPoint</Application>
  <PresentationFormat>ワイド画面</PresentationFormat>
  <Paragraphs>101</Paragraphs>
  <Slides>9</Slides>
  <Notes>9</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9</vt:i4>
      </vt:variant>
    </vt:vector>
  </HeadingPairs>
  <TitlesOfParts>
    <vt:vector size="11" baseType="lpstr">
      <vt:lpstr>Arial</vt:lpstr>
      <vt:lpstr>Office テーマ</vt:lpstr>
      <vt:lpstr>予備審査 発表</vt:lpstr>
      <vt:lpstr>テーマ</vt:lpstr>
      <vt:lpstr>目次</vt:lpstr>
      <vt:lpstr>目的・背景</vt:lpstr>
      <vt:lpstr>PowerPoint プレゼンテーション</vt:lpstr>
      <vt:lpstr>作品・研究の概要</vt:lpstr>
      <vt:lpstr>PowerPoint プレゼンテーション</vt:lpstr>
      <vt:lpstr>今後の流れ </vt:lpstr>
      <vt:lpstr>制作・研究方法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渡辺 眞未</dc:creator>
  <cp:lastModifiedBy>安永　卓真</cp:lastModifiedBy>
  <cp:revision>6</cp:revision>
  <dcterms:created xsi:type="dcterms:W3CDTF">2022-09-01T01:56:56Z</dcterms:created>
  <dcterms:modified xsi:type="dcterms:W3CDTF">2026-10-05T02:31:56Z</dcterms:modified>
</cp:coreProperties>
</file>