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3" r:id="rId6"/>
    <p:sldId id="260" r:id="rId7"/>
    <p:sldId id="264" r:id="rId8"/>
    <p:sldId id="261"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jQGFfbmcF/F6CMXnR89bWTo9kz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JP" altLang="ja-JP" dirty="0"/>
              <a:t>25098 安永卓真。これから、卒業制作の予備審査発表を始めます。</a:t>
            </a: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ja-JP" altLang="ja-JP" dirty="0"/>
              <a:t>私の卒業制作のテーマは、豆田町について知ってもらうためのWebコンテンツ制作です。</a:t>
            </a: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5565c702f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ja-JP" altLang="ja-JP" dirty="0"/>
              <a:t>発表の流れは画面の通りです。</a:t>
            </a:r>
            <a:endParaRPr dirty="0"/>
          </a:p>
        </p:txBody>
      </p:sp>
      <p:sp>
        <p:nvSpPr>
          <p:cNvPr id="94" name="Google Shape;94;g15565c702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ja-JP" altLang="ja-JP" dirty="0"/>
              <a:t>まず、目的・背景について説明します。</a:t>
            </a:r>
            <a:r>
              <a:rPr lang="ja-JP" altLang="en-US" dirty="0"/>
              <a:t>　</a:t>
            </a:r>
            <a:r>
              <a:rPr lang="ja-JP" altLang="ja-JP" dirty="0"/>
              <a:t>私は豆田町の歴史や町並み、観光スポットなどの魅力を多くの人に知ってもらいたいと考え、このテーマにしました。</a:t>
            </a:r>
            <a:br>
              <a:rPr lang="en-US" altLang="ja-JP" dirty="0"/>
            </a:br>
            <a:r>
              <a:rPr lang="ja-JP" altLang="ja-JP" dirty="0"/>
              <a:t>観光情報を分かりやすく紹介し、実際に豆田町を訪れてみたいと思ってもらえるWebサイトを制作することを目的としています。</a:t>
            </a:r>
            <a:endParaRPr lang="ja-JP" altLang="en-US" dirty="0"/>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58750" indent="0">
              <a:buNone/>
            </a:pPr>
            <a:r>
              <a:rPr lang="ja-JP" altLang="ja-JP" dirty="0"/>
              <a:t>次に、作品・研究の概要について説明します。</a:t>
            </a:r>
            <a:r>
              <a:rPr lang="ja-JP" altLang="en-US" dirty="0"/>
              <a:t>　</a:t>
            </a:r>
            <a:r>
              <a:rPr lang="ja-JP" altLang="ja-JP" dirty="0"/>
              <a:t>まず、研究について説明します。</a:t>
            </a:r>
          </a:p>
          <a:p>
            <a:pPr marL="158750" indent="0">
              <a:buNone/>
            </a:pPr>
            <a:r>
              <a:rPr lang="ja-JP" altLang="ja-JP" dirty="0"/>
              <a:t>豆田町について調べたところ、江戸時代の町割り（まちわり）が残っており、白壁（しらかべ）の建物や古い</a:t>
            </a:r>
            <a:r>
              <a:rPr lang="ja-JP" altLang="en-US" dirty="0"/>
              <a:t>まちや</a:t>
            </a:r>
            <a:r>
              <a:rPr lang="ja-JP" altLang="ja-JP" dirty="0"/>
              <a:t>など、歴史を感じられる町並みが特徴だと分かりました。</a:t>
            </a:r>
          </a:p>
          <a:p>
            <a:pPr marL="158750" indent="0">
              <a:buNone/>
            </a:pPr>
            <a:r>
              <a:rPr lang="ja-JP" altLang="ja-JP" dirty="0"/>
              <a:t>また、草野本家</a:t>
            </a:r>
            <a:r>
              <a:rPr lang="ja-JP" altLang="en-US" dirty="0"/>
              <a:t>（</a:t>
            </a:r>
            <a:r>
              <a:rPr lang="ja-JP" altLang="ja-JP" dirty="0"/>
              <a:t>くさのほんけ</a:t>
            </a:r>
            <a:r>
              <a:rPr lang="ja-JP" altLang="en-US" dirty="0"/>
              <a:t>）</a:t>
            </a:r>
            <a:r>
              <a:rPr lang="ja-JP" altLang="ja-JP" dirty="0"/>
              <a:t>や薫長酒蔵資料館</a:t>
            </a:r>
            <a:r>
              <a:rPr lang="ja-JP" altLang="en-US" dirty="0"/>
              <a:t>（</a:t>
            </a:r>
            <a:r>
              <a:rPr lang="ja-JP" altLang="ja-JP" dirty="0"/>
              <a:t>くんちょうさかぐらしりょうかん</a:t>
            </a:r>
            <a:r>
              <a:rPr lang="ja-JP" altLang="en-US" dirty="0"/>
              <a:t>）</a:t>
            </a:r>
            <a:r>
              <a:rPr lang="ja-JP" altLang="ja-JP" dirty="0"/>
              <a:t>などの観光スポットがあり、グルメやお店などもあるため、町並みを歩きながら観光を楽しめる地域だと分かりました。</a:t>
            </a:r>
          </a:p>
        </p:txBody>
      </p:sp>
    </p:spTree>
    <p:extLst>
      <p:ext uri="{BB962C8B-B14F-4D97-AF65-F5344CB8AC3E}">
        <p14:creationId xmlns:p14="http://schemas.microsoft.com/office/powerpoint/2010/main" val="2539914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565c702ff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ja-JP" altLang="ja-JP" dirty="0"/>
              <a:t>次に、作品について説明します。</a:t>
            </a:r>
            <a:r>
              <a:rPr lang="ja-JP" altLang="en-US" dirty="0"/>
              <a:t>　</a:t>
            </a:r>
            <a:br>
              <a:rPr lang="en-US" altLang="ja-JP" dirty="0"/>
            </a:br>
            <a:r>
              <a:rPr lang="ja-JP" altLang="ja-JP" dirty="0"/>
              <a:t>Webサイトでは、豆田町について</a:t>
            </a:r>
            <a:r>
              <a:rPr lang="ja-JP" altLang="en-US" dirty="0"/>
              <a:t>、</a:t>
            </a:r>
            <a:r>
              <a:rPr lang="ja-JP" altLang="ja-JP" dirty="0"/>
              <a:t>観光スポット、グルメ、アクセス情報などを紹介します。</a:t>
            </a:r>
          </a:p>
          <a:p>
            <a:pPr marL="158750" indent="0">
              <a:buNone/>
            </a:pPr>
            <a:r>
              <a:rPr lang="ja-JP" altLang="ja-JP" dirty="0"/>
              <a:t>3Dマップでは、Three.jsを使用して、豆田町の街並みや観光スポットを立体的に表現します。</a:t>
            </a:r>
            <a:endParaRPr lang="en-US" altLang="ja-JP" dirty="0"/>
          </a:p>
          <a:p>
            <a:pPr marL="158750" indent="0">
              <a:buNone/>
            </a:pPr>
            <a:r>
              <a:rPr lang="ja-JP" altLang="ja-JP" dirty="0"/>
              <a:t>研究で調べた情報を</a:t>
            </a:r>
            <a:r>
              <a:rPr lang="ja-JP" altLang="en-US" dirty="0"/>
              <a:t>作品に</a:t>
            </a:r>
            <a:r>
              <a:rPr lang="ja-JP" altLang="ja-JP" dirty="0"/>
              <a:t>取り入れ、豆田町の魅力を分かりやすく伝えられる作品を目指しています。</a:t>
            </a:r>
          </a:p>
        </p:txBody>
      </p:sp>
      <p:sp>
        <p:nvSpPr>
          <p:cNvPr id="106" name="Google Shape;106;g15565c702f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58750" indent="0">
              <a:buNone/>
            </a:pPr>
            <a:r>
              <a:rPr lang="ja-JP" altLang="ja-JP" dirty="0"/>
              <a:t>次に、現在の制作状況について説明します。</a:t>
            </a:r>
            <a:br>
              <a:rPr lang="en-US" altLang="ja-JP" dirty="0"/>
            </a:br>
            <a:r>
              <a:rPr lang="ja-JP" altLang="ja-JP" dirty="0"/>
              <a:t>まず、Webサイトについてです。現在、TOPページ、豆田町について、観光スポットのページを制作しています。</a:t>
            </a:r>
            <a:endParaRPr lang="en-US" altLang="ja-JP" dirty="0"/>
          </a:p>
          <a:p>
            <a:pPr marL="158750" indent="0">
              <a:buNone/>
            </a:pPr>
            <a:r>
              <a:rPr lang="ja-JP" altLang="ja-JP" dirty="0"/>
              <a:t>グルメ・お店とアクセスのページは制作中で、レイアウトの調整や修正、写真の補充</a:t>
            </a:r>
            <a:r>
              <a:rPr lang="ja-JP" altLang="en-US" dirty="0"/>
              <a:t>なども進めています。</a:t>
            </a:r>
            <a:endParaRPr lang="ja-JP" altLang="ja-JP" dirty="0"/>
          </a:p>
          <a:p>
            <a:pPr marL="158750" indent="0">
              <a:buNone/>
            </a:pPr>
            <a:r>
              <a:rPr lang="ja-JP" altLang="ja-JP" dirty="0"/>
              <a:t>3Dマップについて</a:t>
            </a:r>
            <a:r>
              <a:rPr lang="ja-JP" altLang="en-US" dirty="0"/>
              <a:t>は、</a:t>
            </a:r>
            <a:r>
              <a:rPr lang="ja-JP" altLang="ja-JP" dirty="0"/>
              <a:t>Webサイトへの組み込み</a:t>
            </a:r>
            <a:r>
              <a:rPr lang="ja-JP" altLang="en-US" dirty="0"/>
              <a:t>と</a:t>
            </a:r>
            <a:r>
              <a:rPr lang="ja-JP" altLang="ja-JP" dirty="0"/>
              <a:t>基本的な操作は制作済みです。</a:t>
            </a:r>
            <a:endParaRPr lang="en-US" altLang="ja-JP" dirty="0"/>
          </a:p>
          <a:p>
            <a:pPr marL="158750" indent="0">
              <a:buNone/>
            </a:pPr>
            <a:r>
              <a:rPr lang="ja-JP" altLang="ja-JP" dirty="0"/>
              <a:t>現在は、建物や道路の配置を調整しており、Blenderで建物の3Dモデルも制作しています。</a:t>
            </a:r>
          </a:p>
        </p:txBody>
      </p:sp>
    </p:spTree>
    <p:extLst>
      <p:ext uri="{BB962C8B-B14F-4D97-AF65-F5344CB8AC3E}">
        <p14:creationId xmlns:p14="http://schemas.microsoft.com/office/powerpoint/2010/main" val="4284769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5565c702ff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ja-JP" altLang="ja-JP" dirty="0"/>
              <a:t>次に、今後の流れについて説明します。</a:t>
            </a:r>
          </a:p>
          <a:p>
            <a:pPr marL="158750" indent="0">
              <a:buNone/>
            </a:pPr>
            <a:r>
              <a:rPr lang="ja-JP" altLang="ja-JP" dirty="0"/>
              <a:t>まず10月は、Webサイトの制作を進め</a:t>
            </a:r>
            <a:r>
              <a:rPr lang="ja-JP" altLang="en-US" dirty="0"/>
              <a:t>、</a:t>
            </a:r>
            <a:r>
              <a:rPr lang="ja-JP" altLang="ja-JP" dirty="0"/>
              <a:t>写真の補充や改善を行い</a:t>
            </a:r>
            <a:r>
              <a:rPr lang="ja-JP" altLang="en-US" dirty="0"/>
              <a:t>ます。</a:t>
            </a:r>
            <a:br>
              <a:rPr lang="en-US" altLang="ja-JP" dirty="0"/>
            </a:br>
            <a:r>
              <a:rPr lang="ja-JP" altLang="ja-JP" dirty="0"/>
              <a:t>また、3Dマップの制作も</a:t>
            </a:r>
            <a:r>
              <a:rPr lang="ja-JP" altLang="en-US" dirty="0"/>
              <a:t>引き続き進め、</a:t>
            </a:r>
            <a:r>
              <a:rPr lang="ja-JP" altLang="ja-JP" dirty="0"/>
              <a:t>Blenderで建物</a:t>
            </a:r>
            <a:r>
              <a:rPr lang="ja-JP" altLang="en-US" dirty="0"/>
              <a:t>を</a:t>
            </a:r>
            <a:r>
              <a:rPr lang="ja-JP" altLang="ja-JP" dirty="0"/>
              <a:t>制作</a:t>
            </a:r>
            <a:r>
              <a:rPr lang="ja-JP" altLang="en-US" dirty="0"/>
              <a:t>し</a:t>
            </a:r>
            <a:r>
              <a:rPr lang="ja-JP" altLang="ja-JP" dirty="0"/>
              <a:t>ます。</a:t>
            </a:r>
          </a:p>
          <a:p>
            <a:pPr marL="158750" indent="0">
              <a:buNone/>
            </a:pPr>
            <a:r>
              <a:rPr lang="ja-JP" altLang="ja-JP" dirty="0"/>
              <a:t>11月は、3Dマップの制作を進め</a:t>
            </a:r>
            <a:r>
              <a:rPr lang="ja-JP" altLang="en-US" dirty="0"/>
              <a:t>、</a:t>
            </a:r>
            <a:r>
              <a:rPr lang="ja-JP" altLang="ja-JP" dirty="0"/>
              <a:t>完成した建物をThree.jsを使用してWebサイトに組み込</a:t>
            </a:r>
            <a:r>
              <a:rPr lang="ja-JP" altLang="en-US" dirty="0"/>
              <a:t>みます。</a:t>
            </a:r>
            <a:r>
              <a:rPr lang="ja-JP" altLang="ja-JP" dirty="0"/>
              <a:t>また、デザインやレイアウトを整え、動作確認と修正を行います。</a:t>
            </a:r>
          </a:p>
          <a:p>
            <a:pPr marL="158750" indent="0">
              <a:buNone/>
            </a:pPr>
            <a:r>
              <a:rPr lang="ja-JP" altLang="ja-JP" dirty="0"/>
              <a:t>12月は、最終調整と最終確認を行い、卒業制作を完成させる予定です。</a:t>
            </a:r>
          </a:p>
        </p:txBody>
      </p:sp>
      <p:sp>
        <p:nvSpPr>
          <p:cNvPr id="112" name="Google Shape;112;g15565c702ff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5565c702ff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ja-JP" altLang="ja-JP" dirty="0"/>
              <a:t>最後に、制作・研究方法について説明します。</a:t>
            </a:r>
            <a:r>
              <a:rPr lang="ja-JP" altLang="en-US" dirty="0"/>
              <a:t>　</a:t>
            </a:r>
            <a:br>
              <a:rPr lang="en-US" altLang="ja-JP" dirty="0"/>
            </a:br>
            <a:r>
              <a:rPr lang="ja-JP" altLang="ja-JP" dirty="0"/>
              <a:t>Webサイトの制作にはVisual Studio Codeを使用し、3Dモデル制作にはBlender、3DマップにはThree.jsを使用しています。</a:t>
            </a:r>
            <a:br>
              <a:rPr lang="en-US" altLang="ja-JP" dirty="0"/>
            </a:br>
            <a:r>
              <a:rPr lang="ja-JP" altLang="ja-JP" dirty="0"/>
              <a:t>使用機材は、ノートパソコンとマウスを中心に、</a:t>
            </a:r>
            <a:r>
              <a:rPr lang="ja-JP" altLang="en-US" dirty="0"/>
              <a:t>スマホ</a:t>
            </a:r>
            <a:r>
              <a:rPr lang="ja-JP" altLang="ja-JP" dirty="0"/>
              <a:t>で写真撮影や表示確認を行います。</a:t>
            </a:r>
          </a:p>
          <a:p>
            <a:pPr marL="158750" indent="0">
              <a:buNone/>
            </a:pPr>
            <a:r>
              <a:rPr lang="ja-JP" altLang="en-US" dirty="0"/>
              <a:t>情報収集に</a:t>
            </a:r>
            <a:r>
              <a:rPr lang="ja-JP" altLang="ja-JP" dirty="0"/>
              <a:t>はGoogle</a:t>
            </a:r>
            <a:r>
              <a:rPr lang="ja-JP" altLang="en-US" dirty="0"/>
              <a:t>検索</a:t>
            </a:r>
            <a:r>
              <a:rPr lang="ja-JP" altLang="ja-JP" dirty="0"/>
              <a:t>を使用し、豆田町の観光情報や制作に必要な情報を調べています。</a:t>
            </a:r>
          </a:p>
          <a:p>
            <a:pPr marL="158750" indent="0">
              <a:buNone/>
            </a:pPr>
            <a:r>
              <a:rPr lang="ja-JP" altLang="ja-JP" dirty="0"/>
              <a:t>以上で、卒業制作の予備審査発表を終わります。ご清聴ありがとうございました。</a:t>
            </a:r>
          </a:p>
        </p:txBody>
      </p:sp>
      <p:sp>
        <p:nvSpPr>
          <p:cNvPr id="118" name="Google Shape;118;g15565c702ff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kg25098-lang.github.io/zemi/%E5%88%B6%E4%BD%9C%E7%89%A9%EF%BC%91/index.html"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ckg25098-lang.github.io/zemi/%E5%88%B6%E4%BD%9C%E7%89%A9%EF%BC%91/map.htm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r>
              <a:rPr lang="ja-JP" altLang="ja-JP" dirty="0"/>
              <a:t>予備審査</a:t>
            </a:r>
            <a:br>
              <a:rPr lang="ja-JP" altLang="ja-JP" dirty="0"/>
            </a:br>
            <a:r>
              <a:rPr lang="ja-JP" altLang="ja-JP" dirty="0"/>
              <a:t>発表</a:t>
            </a:r>
            <a:endParaRPr dirty="0"/>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1800"/>
              <a:buNone/>
            </a:pPr>
            <a:r>
              <a:rPr lang="en-US" altLang="ja-JP" dirty="0"/>
              <a:t>25098</a:t>
            </a:r>
            <a:r>
              <a:rPr lang="ja-JP" dirty="0"/>
              <a:t>_</a:t>
            </a:r>
            <a:r>
              <a:rPr lang="ja-JP" altLang="en-US" dirty="0"/>
              <a:t>安永卓真</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a:t>テーマ</a:t>
            </a:r>
            <a:endParaRPr/>
          </a:p>
        </p:txBody>
      </p:sp>
      <p:sp>
        <p:nvSpPr>
          <p:cNvPr id="91" name="Google Shape;91;p2"/>
          <p:cNvSpPr txBox="1">
            <a:spLocks noGrp="1"/>
          </p:cNvSpPr>
          <p:nvPr>
            <p:ph type="body" idx="1"/>
          </p:nvPr>
        </p:nvSpPr>
        <p:spPr>
          <a:xfrm>
            <a:off x="1651000" y="2502958"/>
            <a:ext cx="8890000" cy="926042"/>
          </a:xfrm>
          <a:prstGeom prst="rect">
            <a:avLst/>
          </a:prstGeom>
          <a:noFill/>
          <a:ln>
            <a:noFill/>
          </a:ln>
        </p:spPr>
        <p:txBody>
          <a:bodyPr spcFirstLastPara="1" wrap="square" lIns="91425" tIns="45700" rIns="91425" bIns="45700" anchor="t" anchorCtr="0">
            <a:noAutofit/>
          </a:bodyPr>
          <a:lstStyle/>
          <a:p>
            <a:pPr marL="228600" lvl="0" indent="-50800">
              <a:spcBef>
                <a:spcPts val="0"/>
              </a:spcBef>
              <a:buSzPts val="2800"/>
              <a:buNone/>
            </a:pPr>
            <a:r>
              <a:rPr lang="ja-JP" altLang="en-US" sz="6000" dirty="0"/>
              <a:t>豆田町の紹介</a:t>
            </a:r>
            <a:r>
              <a:rPr lang="en-US" altLang="ja-JP" sz="6000" dirty="0"/>
              <a:t>Web</a:t>
            </a:r>
            <a:r>
              <a:rPr lang="ja-JP" altLang="en-US" sz="6000" dirty="0"/>
              <a:t>サイト</a:t>
            </a:r>
            <a:endParaRPr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15565c702ff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目次</a:t>
            </a:r>
            <a:endParaRPr dirty="0"/>
          </a:p>
        </p:txBody>
      </p:sp>
      <p:sp>
        <p:nvSpPr>
          <p:cNvPr id="97" name="Google Shape;97;g15565c702ff_0_5"/>
          <p:cNvSpPr txBox="1">
            <a:spLocks noGrp="1"/>
          </p:cNvSpPr>
          <p:nvPr>
            <p:ph type="body" idx="1"/>
          </p:nvPr>
        </p:nvSpPr>
        <p:spPr>
          <a:xfrm>
            <a:off x="1075267" y="1690825"/>
            <a:ext cx="10278533" cy="4351200"/>
          </a:xfrm>
          <a:prstGeom prst="rect">
            <a:avLst/>
          </a:prstGeom>
          <a:noFill/>
          <a:ln>
            <a:noFill/>
          </a:ln>
        </p:spPr>
        <p:txBody>
          <a:bodyPr spcFirstLastPara="1" wrap="square" lIns="91425" tIns="45700" rIns="91425" bIns="45700" anchor="t" anchorCtr="0">
            <a:normAutofit fontScale="92500" lnSpcReduction="10000"/>
          </a:bodyPr>
          <a:lstStyle/>
          <a:p>
            <a:pPr marL="228600" lvl="0" indent="-50800">
              <a:spcBef>
                <a:spcPts val="0"/>
              </a:spcBef>
              <a:buSzPts val="2800"/>
              <a:buNone/>
            </a:pPr>
            <a:r>
              <a:rPr lang="en-US" sz="4000" dirty="0"/>
              <a:t>1.</a:t>
            </a:r>
            <a:r>
              <a:rPr lang="ja-JP" altLang="ja-JP" sz="4000" dirty="0"/>
              <a:t>目的・背景</a:t>
            </a:r>
            <a:endParaRPr lang="en-US" altLang="ja-JP" sz="4000" dirty="0"/>
          </a:p>
          <a:p>
            <a:pPr marL="228600" lvl="0" indent="-50800">
              <a:spcBef>
                <a:spcPts val="0"/>
              </a:spcBef>
              <a:buSzPts val="2800"/>
              <a:buNone/>
            </a:pPr>
            <a:endParaRPr lang="en-US" sz="4000" dirty="0"/>
          </a:p>
          <a:p>
            <a:pPr marL="228600" lvl="0" indent="-50800">
              <a:spcBef>
                <a:spcPts val="0"/>
              </a:spcBef>
              <a:buSzPts val="2800"/>
              <a:buNone/>
            </a:pPr>
            <a:r>
              <a:rPr lang="en-US" sz="4000" dirty="0"/>
              <a:t>2.</a:t>
            </a:r>
            <a:r>
              <a:rPr lang="ja-JP" altLang="ja-JP" sz="4000" dirty="0"/>
              <a:t>作品・研究の概要</a:t>
            </a:r>
            <a:endParaRPr lang="en-US" altLang="ja-JP" sz="4000" dirty="0"/>
          </a:p>
          <a:p>
            <a:pPr marL="228600" lvl="0" indent="-50800">
              <a:spcBef>
                <a:spcPts val="0"/>
              </a:spcBef>
              <a:buSzPts val="2800"/>
              <a:buNone/>
            </a:pPr>
            <a:endParaRPr lang="en-US" altLang="ja-JP" sz="4000" dirty="0"/>
          </a:p>
          <a:p>
            <a:pPr marL="228600" lvl="0" indent="-50800">
              <a:spcBef>
                <a:spcPts val="0"/>
              </a:spcBef>
              <a:buSzPts val="2800"/>
              <a:buNone/>
            </a:pPr>
            <a:r>
              <a:rPr lang="en-US" altLang="ja-JP" sz="4000" dirty="0"/>
              <a:t>3.</a:t>
            </a:r>
            <a:r>
              <a:rPr lang="ja-JP" altLang="en-US" sz="4000" dirty="0"/>
              <a:t>現在の状況</a:t>
            </a:r>
            <a:endParaRPr lang="en-US" altLang="ja-JP" sz="4000" dirty="0"/>
          </a:p>
          <a:p>
            <a:pPr marL="228600" lvl="0" indent="-50800">
              <a:spcBef>
                <a:spcPts val="0"/>
              </a:spcBef>
              <a:buSzPts val="2800"/>
              <a:buNone/>
            </a:pPr>
            <a:endParaRPr lang="en-US" sz="4000" dirty="0"/>
          </a:p>
          <a:p>
            <a:pPr marL="228600" lvl="0" indent="-50800">
              <a:spcBef>
                <a:spcPts val="0"/>
              </a:spcBef>
              <a:buSzPts val="2800"/>
              <a:buNone/>
            </a:pPr>
            <a:r>
              <a:rPr lang="en-US" sz="4000" dirty="0"/>
              <a:t>4.</a:t>
            </a:r>
            <a:r>
              <a:rPr lang="ja-JP" altLang="ja-JP" sz="4000" dirty="0"/>
              <a:t>今後の流れ</a:t>
            </a:r>
            <a:endParaRPr lang="en-US" altLang="ja-JP" sz="4000" dirty="0"/>
          </a:p>
          <a:p>
            <a:pPr marL="228600" lvl="0" indent="-50800">
              <a:spcBef>
                <a:spcPts val="0"/>
              </a:spcBef>
              <a:buSzPts val="2800"/>
              <a:buNone/>
            </a:pPr>
            <a:endParaRPr lang="en-US" sz="4000" dirty="0"/>
          </a:p>
          <a:p>
            <a:pPr marL="228600" lvl="0" indent="-50800">
              <a:spcBef>
                <a:spcPts val="0"/>
              </a:spcBef>
              <a:buSzPts val="2800"/>
              <a:buNone/>
            </a:pPr>
            <a:r>
              <a:rPr lang="en-US" sz="4000" dirty="0"/>
              <a:t>5.</a:t>
            </a:r>
            <a:r>
              <a:rPr lang="ja-JP" altLang="ja-JP" sz="4000" dirty="0"/>
              <a:t>制作・研究方法</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目的・背景</a:t>
            </a:r>
            <a:endParaRPr dirty="0"/>
          </a:p>
        </p:txBody>
      </p:sp>
      <p:sp>
        <p:nvSpPr>
          <p:cNvPr id="103" name="Google Shape;10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lnSpc>
                <a:spcPct val="100000"/>
              </a:lnSpc>
            </a:pPr>
            <a:r>
              <a:rPr lang="ja-JP" altLang="en-US" dirty="0"/>
              <a:t>豆田町の観光情報を分かりやすく紹介し、実際に訪れてみたいと思ってもらえる</a:t>
            </a:r>
            <a:r>
              <a:rPr lang="en-US" altLang="ja-JP" dirty="0"/>
              <a:t>Web</a:t>
            </a:r>
            <a:r>
              <a:rPr lang="ja-JP" altLang="en-US" dirty="0"/>
              <a:t>サイトを制作する。</a:t>
            </a:r>
            <a:endParaRPr lang="en-US" altLang="ja-JP" dirty="0"/>
          </a:p>
          <a:p>
            <a:pPr>
              <a:lnSpc>
                <a:spcPct val="100000"/>
              </a:lnSpc>
            </a:pPr>
            <a:endParaRPr lang="ja-JP" altLang="en-US" dirty="0"/>
          </a:p>
          <a:p>
            <a:pPr>
              <a:lnSpc>
                <a:spcPct val="100000"/>
              </a:lnSpc>
            </a:pPr>
            <a:r>
              <a:rPr lang="ja-JP" altLang="en-US" dirty="0"/>
              <a:t>豆田町の歴史や町並み、観光スポットなどの魅力を多くの人に知ってもらいたいと考えたため。</a:t>
            </a:r>
            <a:endParaRPr lang="en-US" altLang="ja-JP"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8;g15565c702ff_2_0">
            <a:extLst>
              <a:ext uri="{FF2B5EF4-FFF2-40B4-BE49-F238E27FC236}">
                <a16:creationId xmlns:a16="http://schemas.microsoft.com/office/drawing/2014/main" id="{F812BF95-CC62-1FE2-E2CB-1213D8CAF70A}"/>
              </a:ext>
            </a:extLst>
          </p:cNvPr>
          <p:cNvSpPr txBox="1">
            <a:spLocks/>
          </p:cNvSpPr>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ct val="90000"/>
              </a:lnSpc>
              <a:buClr>
                <a:schemeClr val="dk1"/>
              </a:buClr>
              <a:buSzPts val="4400"/>
            </a:pPr>
            <a:r>
              <a:rPr lang="ja-JP" altLang="en-US" sz="4400" dirty="0"/>
              <a:t>作品・研究の概要</a:t>
            </a:r>
          </a:p>
        </p:txBody>
      </p:sp>
      <p:sp>
        <p:nvSpPr>
          <p:cNvPr id="3" name="Google Shape;109;g15565c702ff_2_0">
            <a:extLst>
              <a:ext uri="{FF2B5EF4-FFF2-40B4-BE49-F238E27FC236}">
                <a16:creationId xmlns:a16="http://schemas.microsoft.com/office/drawing/2014/main" id="{9E10118D-A945-8818-913B-674E3D16602D}"/>
              </a:ext>
            </a:extLst>
          </p:cNvPr>
          <p:cNvSpPr txBox="1">
            <a:spLocks/>
          </p:cNvSpPr>
          <p:nvPr/>
        </p:nvSpPr>
        <p:spPr>
          <a:xfrm>
            <a:off x="838200" y="1825625"/>
            <a:ext cx="10515600" cy="435120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ja-JP" altLang="ja-JP" sz="2800" b="1" dirty="0"/>
              <a:t>研究：豆田町について</a:t>
            </a:r>
            <a:endParaRPr lang="en-US" altLang="ja-JP" sz="2800" b="1" dirty="0"/>
          </a:p>
          <a:p>
            <a:endParaRPr lang="en-US" altLang="ja-JP" sz="2800" b="1" dirty="0"/>
          </a:p>
          <a:p>
            <a:r>
              <a:rPr lang="ja-JP" altLang="ja-JP" sz="2800" b="1" dirty="0"/>
              <a:t>歴史</a:t>
            </a:r>
            <a:endParaRPr lang="ja-JP" altLang="ja-JP" sz="2800" dirty="0"/>
          </a:p>
          <a:p>
            <a:pPr marL="457200" lvl="0" indent="-457200">
              <a:buFont typeface="Arial" panose="020B0604020202020204" pitchFamily="34" charset="0"/>
              <a:buChar char="•"/>
            </a:pPr>
            <a:r>
              <a:rPr lang="ja-JP" altLang="ja-JP" sz="2800" dirty="0"/>
              <a:t>江戸時代に城下町として整備された町 </a:t>
            </a:r>
          </a:p>
          <a:p>
            <a:pPr marL="457200" lvl="0" indent="-457200">
              <a:lnSpc>
                <a:spcPct val="110000"/>
              </a:lnSpc>
              <a:buFont typeface="Arial" panose="020B0604020202020204" pitchFamily="34" charset="0"/>
              <a:buChar char="•"/>
            </a:pPr>
            <a:r>
              <a:rPr lang="ja-JP" altLang="ja-JP" sz="2800" dirty="0"/>
              <a:t>江戸時代の町割りが残っている </a:t>
            </a:r>
            <a:endParaRPr lang="en-US" altLang="ja-JP" sz="2800" dirty="0"/>
          </a:p>
          <a:p>
            <a:pPr lvl="0">
              <a:lnSpc>
                <a:spcPct val="110000"/>
              </a:lnSpc>
            </a:pPr>
            <a:endParaRPr lang="ja-JP" altLang="ja-JP" sz="2800" dirty="0"/>
          </a:p>
          <a:p>
            <a:pPr>
              <a:lnSpc>
                <a:spcPct val="110000"/>
              </a:lnSpc>
            </a:pPr>
            <a:r>
              <a:rPr lang="ja-JP" altLang="ja-JP" sz="2800" b="1" dirty="0"/>
              <a:t>町並み・文化</a:t>
            </a:r>
            <a:endParaRPr lang="ja-JP" altLang="ja-JP" sz="2800" dirty="0"/>
          </a:p>
          <a:p>
            <a:pPr marL="457200" lvl="0" indent="-457200">
              <a:buFont typeface="Arial" panose="020B0604020202020204" pitchFamily="34" charset="0"/>
              <a:buChar char="•"/>
            </a:pPr>
            <a:r>
              <a:rPr lang="ja-JP" altLang="ja-JP" sz="2800" dirty="0"/>
              <a:t>白壁の建物や古い町家が残る歴史的な町並み </a:t>
            </a:r>
          </a:p>
          <a:p>
            <a:pPr marL="457200" lvl="0" indent="-457200">
              <a:buFont typeface="Arial" panose="020B0604020202020204" pitchFamily="34" charset="0"/>
              <a:buChar char="•"/>
            </a:pPr>
            <a:r>
              <a:rPr lang="ja-JP" altLang="ja-JP" sz="2800" dirty="0"/>
              <a:t>天領日田の歴史や文化を感じられる地域 </a:t>
            </a:r>
            <a:endParaRPr lang="en-US" altLang="ja-JP" sz="2800" dirty="0"/>
          </a:p>
          <a:p>
            <a:pPr lvl="0"/>
            <a:endParaRPr lang="ja-JP" altLang="ja-JP" sz="2800" dirty="0"/>
          </a:p>
          <a:p>
            <a:r>
              <a:rPr lang="ja-JP" altLang="ja-JP" sz="2800" b="1" dirty="0"/>
              <a:t>観光</a:t>
            </a:r>
            <a:endParaRPr lang="ja-JP" altLang="ja-JP" sz="2800" dirty="0"/>
          </a:p>
          <a:p>
            <a:pPr marL="457200" lvl="0" indent="-457200">
              <a:buFont typeface="Arial" panose="020B0604020202020204" pitchFamily="34" charset="0"/>
              <a:buChar char="•"/>
            </a:pPr>
            <a:r>
              <a:rPr lang="ja-JP" altLang="ja-JP" sz="2800" dirty="0"/>
              <a:t>草野本家や薫長酒蔵資料館などの観光スポットがある </a:t>
            </a:r>
          </a:p>
          <a:p>
            <a:pPr marL="457200" lvl="0" indent="-457200">
              <a:buFont typeface="Arial" panose="020B0604020202020204" pitchFamily="34" charset="0"/>
              <a:buChar char="•"/>
            </a:pPr>
            <a:r>
              <a:rPr lang="ja-JP" altLang="ja-JP" sz="2800" dirty="0"/>
              <a:t>グルメやお店などもあり、町並みを歩きながら観光できる</a:t>
            </a:r>
          </a:p>
          <a:p>
            <a:pPr marL="114300"/>
            <a:endParaRPr lang="ja-JP" altLang="en-US" sz="2800" dirty="0"/>
          </a:p>
          <a:p>
            <a:pPr marL="228600" indent="-50800">
              <a:lnSpc>
                <a:spcPct val="90000"/>
              </a:lnSpc>
              <a:buClr>
                <a:schemeClr val="dk1"/>
              </a:buClr>
              <a:buSzPts val="2800"/>
            </a:pPr>
            <a:endParaRPr lang="ja-JP" altLang="en-US" dirty="0"/>
          </a:p>
        </p:txBody>
      </p:sp>
    </p:spTree>
    <p:extLst>
      <p:ext uri="{BB962C8B-B14F-4D97-AF65-F5344CB8AC3E}">
        <p14:creationId xmlns:p14="http://schemas.microsoft.com/office/powerpoint/2010/main" val="3534152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15565c702ff_2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作品・研究の概要</a:t>
            </a:r>
            <a:endParaRPr dirty="0"/>
          </a:p>
        </p:txBody>
      </p:sp>
      <p:sp>
        <p:nvSpPr>
          <p:cNvPr id="109" name="Google Shape;109;g15565c702ff_2_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14300" indent="0">
              <a:buNone/>
            </a:pPr>
            <a:r>
              <a:rPr lang="ja-JP" altLang="ja-JP" b="1" dirty="0"/>
              <a:t>① Webサイトの制作</a:t>
            </a:r>
          </a:p>
          <a:p>
            <a:r>
              <a:rPr lang="ja-JP" altLang="ja-JP" dirty="0"/>
              <a:t>豆田町</a:t>
            </a:r>
            <a:r>
              <a:rPr lang="ja-JP" altLang="en-US" dirty="0"/>
              <a:t>について</a:t>
            </a:r>
            <a:r>
              <a:rPr lang="ja-JP" altLang="ja-JP" dirty="0"/>
              <a:t>・観光スポット・グルメ・アクセス情報などを紹介する。</a:t>
            </a:r>
            <a:endParaRPr lang="en-US" altLang="ja-JP" dirty="0"/>
          </a:p>
          <a:p>
            <a:endParaRPr lang="ja-JP" altLang="ja-JP" dirty="0"/>
          </a:p>
          <a:p>
            <a:pPr marL="114300" indent="0">
              <a:buNone/>
            </a:pPr>
            <a:r>
              <a:rPr lang="ja-JP" altLang="ja-JP" b="1" dirty="0"/>
              <a:t>② 3Dマップの制作</a:t>
            </a:r>
          </a:p>
          <a:p>
            <a:r>
              <a:rPr lang="ja-JP" altLang="ja-JP" dirty="0"/>
              <a:t>Three.jsを使用し、豆田町の街並みや観光スポットを立体的に表現する。</a:t>
            </a:r>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8;g15565c702ff_2_0">
            <a:extLst>
              <a:ext uri="{FF2B5EF4-FFF2-40B4-BE49-F238E27FC236}">
                <a16:creationId xmlns:a16="http://schemas.microsoft.com/office/drawing/2014/main" id="{85CCF1D9-0CC7-C910-7BB8-EE38E74F5A2E}"/>
              </a:ext>
            </a:extLst>
          </p:cNvPr>
          <p:cNvSpPr txBox="1">
            <a:spLocks/>
          </p:cNvSpPr>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ct val="90000"/>
              </a:lnSpc>
              <a:buClr>
                <a:schemeClr val="dk1"/>
              </a:buClr>
              <a:buSzPts val="4400"/>
            </a:pPr>
            <a:r>
              <a:rPr lang="ja-JP" altLang="en-US" sz="4400" dirty="0"/>
              <a:t>現在の状況</a:t>
            </a:r>
            <a:endParaRPr lang="en-US" altLang="ja-JP" sz="4400" dirty="0"/>
          </a:p>
        </p:txBody>
      </p:sp>
      <p:sp>
        <p:nvSpPr>
          <p:cNvPr id="5" name="Google Shape;109;g15565c702ff_2_0">
            <a:extLst>
              <a:ext uri="{FF2B5EF4-FFF2-40B4-BE49-F238E27FC236}">
                <a16:creationId xmlns:a16="http://schemas.microsoft.com/office/drawing/2014/main" id="{8BB6C46C-CD7C-CB2B-9B94-D01F1EC8984B}"/>
              </a:ext>
            </a:extLst>
          </p:cNvPr>
          <p:cNvSpPr txBox="1">
            <a:spLocks/>
          </p:cNvSpPr>
          <p:nvPr/>
        </p:nvSpPr>
        <p:spPr>
          <a:xfrm>
            <a:off x="838200" y="1825625"/>
            <a:ext cx="5588000" cy="44989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ja-JP" altLang="ja-JP" sz="2600" b="1" dirty="0"/>
              <a:t>① Webサイト</a:t>
            </a:r>
          </a:p>
          <a:p>
            <a:r>
              <a:rPr lang="ja-JP" altLang="ja-JP" sz="2600" b="1" dirty="0"/>
              <a:t>制作済み</a:t>
            </a:r>
            <a:endParaRPr lang="ja-JP" altLang="ja-JP" sz="2600" dirty="0"/>
          </a:p>
          <a:p>
            <a:pPr lvl="0"/>
            <a:r>
              <a:rPr lang="ja-JP" altLang="ja-JP" sz="2600" dirty="0"/>
              <a:t>TOPページ </a:t>
            </a:r>
            <a:r>
              <a:rPr lang="ja-JP" altLang="en-US" sz="2600" dirty="0"/>
              <a:t>、</a:t>
            </a:r>
            <a:r>
              <a:rPr lang="ja-JP" altLang="ja-JP" sz="2600" dirty="0"/>
              <a:t>豆田町について </a:t>
            </a:r>
          </a:p>
          <a:p>
            <a:pPr lvl="0"/>
            <a:r>
              <a:rPr lang="ja-JP" altLang="ja-JP" sz="2600" dirty="0"/>
              <a:t>観光スポット </a:t>
            </a:r>
            <a:endParaRPr lang="en-US" altLang="ja-JP" sz="2600" dirty="0"/>
          </a:p>
          <a:p>
            <a:pPr lvl="0"/>
            <a:endParaRPr lang="ja-JP" altLang="ja-JP" sz="2600" dirty="0"/>
          </a:p>
          <a:p>
            <a:r>
              <a:rPr lang="ja-JP" altLang="ja-JP" sz="2600" b="1" dirty="0"/>
              <a:t>制作中・調整</a:t>
            </a:r>
            <a:endParaRPr lang="ja-JP" altLang="ja-JP" sz="2600" dirty="0"/>
          </a:p>
          <a:p>
            <a:pPr lvl="0"/>
            <a:r>
              <a:rPr lang="ja-JP" altLang="ja-JP" sz="2600" dirty="0"/>
              <a:t>グルメ・お店ページ </a:t>
            </a:r>
            <a:endParaRPr lang="en-US" altLang="ja-JP" sz="2600" dirty="0"/>
          </a:p>
          <a:p>
            <a:pPr lvl="0"/>
            <a:r>
              <a:rPr lang="ja-JP" altLang="ja-JP" sz="2600" dirty="0"/>
              <a:t>アクセスページ </a:t>
            </a:r>
          </a:p>
          <a:p>
            <a:pPr lvl="0"/>
            <a:r>
              <a:rPr lang="ja-JP" altLang="ja-JP" sz="2600" dirty="0"/>
              <a:t>各ページのレイアウト調整・修正 </a:t>
            </a:r>
          </a:p>
          <a:p>
            <a:pPr lvl="0"/>
            <a:r>
              <a:rPr lang="ja-JP" altLang="ja-JP" sz="2600" dirty="0"/>
              <a:t>不足している写真の補充・修正 </a:t>
            </a:r>
          </a:p>
          <a:p>
            <a:r>
              <a:rPr lang="ja-JP" altLang="ja-JP" sz="2600" b="1" dirty="0"/>
              <a:t>▶ </a:t>
            </a:r>
            <a:r>
              <a:rPr lang="ja-JP" altLang="ja-JP" sz="2600" b="1" dirty="0">
                <a:hlinkClick r:id="rId3"/>
              </a:rPr>
              <a:t>Webサイト</a:t>
            </a:r>
            <a:r>
              <a:rPr lang="ja-JP" altLang="en-US" sz="2600" b="1" dirty="0">
                <a:hlinkClick r:id="rId3"/>
              </a:rPr>
              <a:t>を</a:t>
            </a:r>
            <a:r>
              <a:rPr lang="ja-JP" altLang="ja-JP" sz="2600" b="1" dirty="0">
                <a:hlinkClick r:id="rId3"/>
              </a:rPr>
              <a:t>確認</a:t>
            </a:r>
            <a:endParaRPr lang="ja-JP" altLang="ja-JP" sz="2600" dirty="0"/>
          </a:p>
        </p:txBody>
      </p:sp>
      <p:sp>
        <p:nvSpPr>
          <p:cNvPr id="7" name="Google Shape;109;g15565c702ff_2_0">
            <a:extLst>
              <a:ext uri="{FF2B5EF4-FFF2-40B4-BE49-F238E27FC236}">
                <a16:creationId xmlns:a16="http://schemas.microsoft.com/office/drawing/2014/main" id="{7EB0C2B3-CBA7-8BA6-B86D-A091739A59A4}"/>
              </a:ext>
            </a:extLst>
          </p:cNvPr>
          <p:cNvSpPr txBox="1">
            <a:spLocks/>
          </p:cNvSpPr>
          <p:nvPr/>
        </p:nvSpPr>
        <p:spPr>
          <a:xfrm>
            <a:off x="6680200" y="1825625"/>
            <a:ext cx="5012267" cy="435120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nSpc>
                <a:spcPct val="120000"/>
              </a:lnSpc>
            </a:pPr>
            <a:r>
              <a:rPr lang="ja-JP" altLang="ja-JP" sz="2800" b="1" dirty="0"/>
              <a:t>② 3Dマップ</a:t>
            </a:r>
          </a:p>
          <a:p>
            <a:pPr>
              <a:lnSpc>
                <a:spcPct val="120000"/>
              </a:lnSpc>
            </a:pPr>
            <a:r>
              <a:rPr lang="ja-JP" altLang="ja-JP" sz="2800" b="1" dirty="0"/>
              <a:t>制作済み</a:t>
            </a:r>
            <a:endParaRPr lang="ja-JP" altLang="ja-JP" sz="2800" dirty="0"/>
          </a:p>
          <a:p>
            <a:pPr lvl="0">
              <a:lnSpc>
                <a:spcPct val="120000"/>
              </a:lnSpc>
            </a:pPr>
            <a:r>
              <a:rPr lang="ja-JP" altLang="ja-JP" sz="2800" dirty="0"/>
              <a:t>Webサイトへの組み込み </a:t>
            </a:r>
          </a:p>
          <a:p>
            <a:pPr lvl="0">
              <a:lnSpc>
                <a:spcPct val="120000"/>
              </a:lnSpc>
            </a:pPr>
            <a:r>
              <a:rPr lang="ja-JP" altLang="ja-JP" sz="2800" dirty="0"/>
              <a:t>3Dマップの基本的な操作 </a:t>
            </a:r>
            <a:endParaRPr lang="en-US" altLang="ja-JP" sz="2800" dirty="0"/>
          </a:p>
          <a:p>
            <a:pPr lvl="0">
              <a:lnSpc>
                <a:spcPct val="120000"/>
              </a:lnSpc>
            </a:pPr>
            <a:endParaRPr lang="ja-JP" altLang="ja-JP" sz="2800" dirty="0"/>
          </a:p>
          <a:p>
            <a:pPr>
              <a:lnSpc>
                <a:spcPct val="120000"/>
              </a:lnSpc>
            </a:pPr>
            <a:r>
              <a:rPr lang="ja-JP" altLang="ja-JP" sz="2800" b="1" dirty="0"/>
              <a:t>制作中・調整</a:t>
            </a:r>
            <a:endParaRPr lang="ja-JP" altLang="ja-JP" sz="2800" dirty="0"/>
          </a:p>
          <a:p>
            <a:pPr lvl="0">
              <a:lnSpc>
                <a:spcPct val="120000"/>
              </a:lnSpc>
            </a:pPr>
            <a:r>
              <a:rPr lang="ja-JP" altLang="ja-JP" sz="2800" dirty="0"/>
              <a:t>建物・道路の配置調整 </a:t>
            </a:r>
          </a:p>
          <a:p>
            <a:pPr lvl="0">
              <a:lnSpc>
                <a:spcPct val="120000"/>
              </a:lnSpc>
            </a:pPr>
            <a:r>
              <a:rPr lang="ja-JP" altLang="ja-JP" sz="2800" dirty="0"/>
              <a:t>Blenderでの建物の3Dモデル制作 </a:t>
            </a:r>
          </a:p>
          <a:p>
            <a:pPr>
              <a:lnSpc>
                <a:spcPct val="120000"/>
              </a:lnSpc>
            </a:pPr>
            <a:r>
              <a:rPr lang="ja-JP" altLang="ja-JP" sz="2800" b="1" dirty="0"/>
              <a:t>▶ </a:t>
            </a:r>
            <a:r>
              <a:rPr lang="ja-JP" altLang="ja-JP" sz="2800" b="1" dirty="0">
                <a:hlinkClick r:id="rId4"/>
              </a:rPr>
              <a:t>3Dマップを確認</a:t>
            </a:r>
            <a:endParaRPr lang="ja-JP" altLang="ja-JP" sz="2800" dirty="0"/>
          </a:p>
        </p:txBody>
      </p:sp>
    </p:spTree>
    <p:extLst>
      <p:ext uri="{BB962C8B-B14F-4D97-AF65-F5344CB8AC3E}">
        <p14:creationId xmlns:p14="http://schemas.microsoft.com/office/powerpoint/2010/main" val="3741643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5565c702ff_2_5"/>
          <p:cNvSpPr txBox="1">
            <a:spLocks noGrp="1"/>
          </p:cNvSpPr>
          <p:nvPr>
            <p:ph type="title"/>
          </p:nvPr>
        </p:nvSpPr>
        <p:spPr>
          <a:xfrm>
            <a:off x="762000" y="642798"/>
            <a:ext cx="10515600" cy="138006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今後の流れ</a:t>
            </a:r>
            <a:endParaRPr dirty="0"/>
          </a:p>
          <a:p>
            <a:pPr marL="0" lvl="0" indent="0" algn="l" rtl="0">
              <a:lnSpc>
                <a:spcPct val="90000"/>
              </a:lnSpc>
              <a:spcBef>
                <a:spcPts val="0"/>
              </a:spcBef>
              <a:spcAft>
                <a:spcPts val="0"/>
              </a:spcAft>
              <a:buClr>
                <a:schemeClr val="dk1"/>
              </a:buClr>
              <a:buSzPts val="4400"/>
              <a:buFont typeface="Arial"/>
              <a:buNone/>
            </a:pPr>
            <a:endParaRPr dirty="0"/>
          </a:p>
        </p:txBody>
      </p:sp>
      <p:graphicFrame>
        <p:nvGraphicFramePr>
          <p:cNvPr id="4" name="表 3">
            <a:extLst>
              <a:ext uri="{FF2B5EF4-FFF2-40B4-BE49-F238E27FC236}">
                <a16:creationId xmlns:a16="http://schemas.microsoft.com/office/drawing/2014/main" id="{CCBC3424-E81A-4F7C-1D76-DAC2EA37453B}"/>
              </a:ext>
            </a:extLst>
          </p:cNvPr>
          <p:cNvGraphicFramePr>
            <a:graphicFrameLocks noGrp="1"/>
          </p:cNvGraphicFramePr>
          <p:nvPr>
            <p:extLst>
              <p:ext uri="{D42A27DB-BD31-4B8C-83A1-F6EECF244321}">
                <p14:modId xmlns:p14="http://schemas.microsoft.com/office/powerpoint/2010/main" val="2169539909"/>
              </p:ext>
            </p:extLst>
          </p:nvPr>
        </p:nvGraphicFramePr>
        <p:xfrm>
          <a:off x="762001" y="1690825"/>
          <a:ext cx="9652000" cy="4450080"/>
        </p:xfrm>
        <a:graphic>
          <a:graphicData uri="http://schemas.openxmlformats.org/drawingml/2006/table">
            <a:tbl>
              <a:tblPr firstCol="1" bandRow="1">
                <a:tableStyleId>{5C22544A-7EE6-4342-B048-85BDC9FD1C3A}</a:tableStyleId>
              </a:tblPr>
              <a:tblGrid>
                <a:gridCol w="2498974">
                  <a:extLst>
                    <a:ext uri="{9D8B030D-6E8A-4147-A177-3AD203B41FA5}">
                      <a16:colId xmlns:a16="http://schemas.microsoft.com/office/drawing/2014/main" val="271450046"/>
                    </a:ext>
                  </a:extLst>
                </a:gridCol>
                <a:gridCol w="7153026">
                  <a:extLst>
                    <a:ext uri="{9D8B030D-6E8A-4147-A177-3AD203B41FA5}">
                      <a16:colId xmlns:a16="http://schemas.microsoft.com/office/drawing/2014/main" val="1606014004"/>
                    </a:ext>
                  </a:extLst>
                </a:gridCol>
              </a:tblGrid>
              <a:tr h="1738175">
                <a:tc>
                  <a:txBody>
                    <a:bodyPr/>
                    <a:lstStyle/>
                    <a:p>
                      <a:pPr algn="ctr"/>
                      <a:r>
                        <a:rPr lang="ja-JP" altLang="ja-JP" sz="4400" dirty="0">
                          <a:solidFill>
                            <a:schemeClr val="bg1"/>
                          </a:solidFill>
                        </a:rPr>
                        <a:t>10～11月</a:t>
                      </a:r>
                      <a:endParaRPr kumimoji="1" lang="ja-JP" altLang="en-US" sz="4400" dirty="0">
                        <a:solidFill>
                          <a:schemeClr val="bg1"/>
                        </a:solidFill>
                      </a:endParaRPr>
                    </a:p>
                  </a:txBody>
                  <a:tcPr anchor="ctr"/>
                </a:tc>
                <a:tc>
                  <a:txBody>
                    <a:bodyPr/>
                    <a:lstStyle/>
                    <a:p>
                      <a:r>
                        <a:rPr lang="ja-JP" altLang="ja-JP" sz="2800" b="1" dirty="0">
                          <a:solidFill>
                            <a:schemeClr val="tx1"/>
                          </a:solidFill>
                        </a:rPr>
                        <a:t>Webサイト・3Dマップの制作</a:t>
                      </a:r>
                    </a:p>
                    <a:p>
                      <a:r>
                        <a:rPr lang="ja-JP" altLang="ja-JP" sz="2800" dirty="0">
                          <a:solidFill>
                            <a:schemeClr val="tx1"/>
                          </a:solidFill>
                        </a:rPr>
                        <a:t>・各ページのデザイン・レイアウトを整える。</a:t>
                      </a:r>
                    </a:p>
                    <a:p>
                      <a:r>
                        <a:rPr lang="ja-JP" altLang="ja-JP" sz="2800" dirty="0">
                          <a:solidFill>
                            <a:schemeClr val="tx1"/>
                          </a:solidFill>
                        </a:rPr>
                        <a:t>・写真の補充や既存写真の改善を行う。</a:t>
                      </a:r>
                    </a:p>
                    <a:p>
                      <a:r>
                        <a:rPr lang="ja-JP" altLang="ja-JP" sz="2800" dirty="0">
                          <a:solidFill>
                            <a:schemeClr val="tx1"/>
                          </a:solidFill>
                        </a:rPr>
                        <a:t>・Blenderで建物を制作し、Three.jsでWebサイトに組み込む。</a:t>
                      </a:r>
                    </a:p>
                  </a:txBody>
                  <a:tcPr/>
                </a:tc>
                <a:extLst>
                  <a:ext uri="{0D108BD9-81ED-4DB2-BD59-A6C34878D82A}">
                    <a16:rowId xmlns:a16="http://schemas.microsoft.com/office/drawing/2014/main" val="2825682563"/>
                  </a:ext>
                </a:extLst>
              </a:tr>
              <a:tr h="1738175">
                <a:tc>
                  <a:txBody>
                    <a:bodyPr/>
                    <a:lstStyle/>
                    <a:p>
                      <a:pPr algn="ctr"/>
                      <a:r>
                        <a:rPr lang="ja-JP" altLang="ja-JP" sz="4400" b="1" dirty="0">
                          <a:solidFill>
                            <a:schemeClr val="bg1"/>
                          </a:solidFill>
                        </a:rPr>
                        <a:t>12月</a:t>
                      </a:r>
                      <a:endParaRPr kumimoji="1" lang="ja-JP" altLang="en-US" sz="4400" b="1" dirty="0">
                        <a:solidFill>
                          <a:schemeClr val="bg1"/>
                        </a:solidFill>
                      </a:endParaRPr>
                    </a:p>
                  </a:txBody>
                  <a:tcPr anchor="ctr"/>
                </a:tc>
                <a:tc>
                  <a:txBody>
                    <a:bodyPr/>
                    <a:lstStyle/>
                    <a:p>
                      <a:r>
                        <a:rPr lang="ja-JP" altLang="ja-JP" sz="2800" b="1" dirty="0"/>
                        <a:t>動作確認・修正、最終調整・完成</a:t>
                      </a:r>
                    </a:p>
                    <a:p>
                      <a:r>
                        <a:rPr lang="ja-JP" altLang="ja-JP" sz="2800" dirty="0"/>
                        <a:t>・各ページや3Dマップの動作確認を行い、表示や操作性を改善する。</a:t>
                      </a:r>
                    </a:p>
                    <a:p>
                      <a:r>
                        <a:rPr lang="ja-JP" altLang="ja-JP" sz="2800" dirty="0"/>
                        <a:t>・全体の仕上げと最終確認を行い、卒業制作を完成させる。</a:t>
                      </a:r>
                    </a:p>
                  </a:txBody>
                  <a:tcPr/>
                </a:tc>
                <a:extLst>
                  <a:ext uri="{0D108BD9-81ED-4DB2-BD59-A6C34878D82A}">
                    <a16:rowId xmlns:a16="http://schemas.microsoft.com/office/drawing/2014/main" val="91263317"/>
                  </a:ext>
                </a:extLst>
              </a:tr>
            </a:tbl>
          </a:graphicData>
        </a:graphic>
      </p:graphicFrame>
      <p:graphicFrame>
        <p:nvGraphicFramePr>
          <p:cNvPr id="3" name="表 2">
            <a:extLst>
              <a:ext uri="{FF2B5EF4-FFF2-40B4-BE49-F238E27FC236}">
                <a16:creationId xmlns:a16="http://schemas.microsoft.com/office/drawing/2014/main" id="{1EA1D0AE-488D-8B27-9475-85A8AAC5F012}"/>
              </a:ext>
            </a:extLst>
          </p:cNvPr>
          <p:cNvGraphicFramePr>
            <a:graphicFrameLocks noGrp="1"/>
          </p:cNvGraphicFramePr>
          <p:nvPr>
            <p:extLst>
              <p:ext uri="{D42A27DB-BD31-4B8C-83A1-F6EECF244321}">
                <p14:modId xmlns:p14="http://schemas.microsoft.com/office/powerpoint/2010/main" val="3102565278"/>
              </p:ext>
            </p:extLst>
          </p:nvPr>
        </p:nvGraphicFramePr>
        <p:xfrm>
          <a:off x="762000" y="1690824"/>
          <a:ext cx="10668000" cy="4577950"/>
        </p:xfrm>
        <a:graphic>
          <a:graphicData uri="http://schemas.openxmlformats.org/drawingml/2006/table">
            <a:tbl>
              <a:tblPr firstCol="1" bandRow="1">
                <a:tableStyleId>{5C22544A-7EE6-4342-B048-85BDC9FD1C3A}</a:tableStyleId>
              </a:tblPr>
              <a:tblGrid>
                <a:gridCol w="2743201">
                  <a:extLst>
                    <a:ext uri="{9D8B030D-6E8A-4147-A177-3AD203B41FA5}">
                      <a16:colId xmlns:a16="http://schemas.microsoft.com/office/drawing/2014/main" val="879746513"/>
                    </a:ext>
                  </a:extLst>
                </a:gridCol>
                <a:gridCol w="7924799">
                  <a:extLst>
                    <a:ext uri="{9D8B030D-6E8A-4147-A177-3AD203B41FA5}">
                      <a16:colId xmlns:a16="http://schemas.microsoft.com/office/drawing/2014/main" val="525122852"/>
                    </a:ext>
                  </a:extLst>
                </a:gridCol>
              </a:tblGrid>
              <a:tr h="1385402">
                <a:tc>
                  <a:txBody>
                    <a:bodyPr/>
                    <a:lstStyle/>
                    <a:p>
                      <a:pPr algn="ctr"/>
                      <a:r>
                        <a:rPr kumimoji="1" lang="en-US" altLang="ja-JP" sz="4400" dirty="0"/>
                        <a:t>10</a:t>
                      </a:r>
                      <a:r>
                        <a:rPr kumimoji="1" lang="ja-JP" altLang="en-US" sz="4400" dirty="0"/>
                        <a:t>月</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b="1" dirty="0">
                          <a:solidFill>
                            <a:schemeClr val="tx1"/>
                          </a:solidFill>
                        </a:rPr>
                        <a:t>Webサイト</a:t>
                      </a:r>
                      <a:endParaRPr lang="en-US" altLang="ja-JP" sz="24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solidFill>
                            <a:schemeClr val="tx1"/>
                          </a:solidFill>
                        </a:rPr>
                        <a:t>・写真の補充や既存写真の改善を行う。</a:t>
                      </a:r>
                      <a:endParaRPr lang="en-US" altLang="ja-JP" sz="24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solidFill>
                            <a:schemeClr val="tx1"/>
                          </a:solidFill>
                        </a:rPr>
                        <a:t>・</a:t>
                      </a:r>
                      <a:r>
                        <a:rPr lang="ja-JP" altLang="ja-JP" sz="2400" dirty="0"/>
                        <a:t>Blenderで建物制作</a:t>
                      </a:r>
                      <a:endParaRPr lang="ja-JP" altLang="ja-JP" sz="2400" dirty="0">
                        <a:solidFill>
                          <a:schemeClr val="tx1"/>
                        </a:solidFill>
                      </a:endParaRPr>
                    </a:p>
                  </a:txBody>
                  <a:tcPr/>
                </a:tc>
                <a:extLst>
                  <a:ext uri="{0D108BD9-81ED-4DB2-BD59-A6C34878D82A}">
                    <a16:rowId xmlns:a16="http://schemas.microsoft.com/office/drawing/2014/main" val="837655654"/>
                  </a:ext>
                </a:extLst>
              </a:tr>
              <a:tr h="2003828">
                <a:tc>
                  <a:txBody>
                    <a:bodyPr/>
                    <a:lstStyle/>
                    <a:p>
                      <a:pPr algn="ctr"/>
                      <a:r>
                        <a:rPr kumimoji="1" lang="en-US" altLang="ja-JP" sz="4400" dirty="0"/>
                        <a:t>11</a:t>
                      </a:r>
                      <a:r>
                        <a:rPr kumimoji="1" lang="ja-JP" altLang="en-US" sz="4400" dirty="0"/>
                        <a:t>月</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t>3Dマップ</a:t>
                      </a:r>
                      <a:r>
                        <a:rPr lang="ja-JP" altLang="ja-JP" sz="2400" b="1" dirty="0"/>
                        <a:t>・修正</a:t>
                      </a:r>
                      <a:endParaRPr lang="en-US" altLang="ja-JP" sz="2400" b="1"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dirty="0">
                          <a:solidFill>
                            <a:schemeClr val="tx1"/>
                          </a:solidFill>
                        </a:rPr>
                        <a:t>・</a:t>
                      </a:r>
                      <a:r>
                        <a:rPr lang="ja-JP" altLang="ja-JP" sz="2400" dirty="0"/>
                        <a:t>Blenderで建物制作</a:t>
                      </a:r>
                      <a:endParaRPr lang="en-US" altLang="ja-JP" sz="24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dirty="0">
                          <a:solidFill>
                            <a:schemeClr val="tx1"/>
                          </a:solidFill>
                        </a:rPr>
                        <a:t>・</a:t>
                      </a:r>
                      <a:r>
                        <a:rPr lang="ja-JP" altLang="ja-JP" sz="2400" dirty="0"/>
                        <a:t>Three.jsへの組み込み</a:t>
                      </a:r>
                      <a:endParaRPr lang="en-US" altLang="ja-JP" sz="24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solidFill>
                            <a:schemeClr val="tx1"/>
                          </a:solidFill>
                        </a:rPr>
                        <a:t>・</a:t>
                      </a:r>
                      <a:r>
                        <a:rPr lang="ja-JP" altLang="ja-JP" sz="2400" dirty="0"/>
                        <a:t>デザイン・レイアウト調整</a:t>
                      </a:r>
                      <a:endParaRPr lang="en-US" altLang="ja-JP" sz="24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t>・Webサイト・3Dマップの動作確認</a:t>
                      </a:r>
                    </a:p>
                  </a:txBody>
                  <a:tcPr/>
                </a:tc>
                <a:extLst>
                  <a:ext uri="{0D108BD9-81ED-4DB2-BD59-A6C34878D82A}">
                    <a16:rowId xmlns:a16="http://schemas.microsoft.com/office/drawing/2014/main" val="3554428260"/>
                  </a:ext>
                </a:extLst>
              </a:tr>
              <a:tr h="1060850">
                <a:tc>
                  <a:txBody>
                    <a:bodyPr/>
                    <a:lstStyle/>
                    <a:p>
                      <a:pPr algn="ctr"/>
                      <a:r>
                        <a:rPr kumimoji="1" lang="en-US" altLang="ja-JP" sz="4400" dirty="0"/>
                        <a:t>12</a:t>
                      </a:r>
                      <a:r>
                        <a:rPr kumimoji="1" lang="ja-JP" altLang="en-US" sz="4400" dirty="0"/>
                        <a:t>月</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b="1" dirty="0"/>
                        <a:t>最終調整・完成</a:t>
                      </a:r>
                      <a:endParaRPr lang="en-US" altLang="ja-JP" sz="24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ja-JP" sz="2400" dirty="0"/>
                        <a:t>・全体の仕上げ</a:t>
                      </a:r>
                      <a:r>
                        <a:rPr lang="ja-JP" altLang="en-US" sz="2400" dirty="0"/>
                        <a:t>、</a:t>
                      </a:r>
                      <a:r>
                        <a:rPr lang="ja-JP" altLang="ja-JP" sz="2400" dirty="0"/>
                        <a:t>最終確認</a:t>
                      </a:r>
                      <a:endParaRPr lang="en-US" altLang="ja-JP" sz="2400"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2400" dirty="0"/>
                        <a:t>・</a:t>
                      </a:r>
                      <a:r>
                        <a:rPr lang="ja-JP" altLang="ja-JP" sz="2400" dirty="0"/>
                        <a:t>卒業制作完成</a:t>
                      </a:r>
                    </a:p>
                  </a:txBody>
                  <a:tcPr/>
                </a:tc>
                <a:extLst>
                  <a:ext uri="{0D108BD9-81ED-4DB2-BD59-A6C34878D82A}">
                    <a16:rowId xmlns:a16="http://schemas.microsoft.com/office/drawing/2014/main" val="77595776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15565c702ff_2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制作・研究方法</a:t>
            </a:r>
            <a:endParaRPr dirty="0"/>
          </a:p>
        </p:txBody>
      </p:sp>
      <p:sp>
        <p:nvSpPr>
          <p:cNvPr id="5" name="テキスト ボックス 4">
            <a:extLst>
              <a:ext uri="{FF2B5EF4-FFF2-40B4-BE49-F238E27FC236}">
                <a16:creationId xmlns:a16="http://schemas.microsoft.com/office/drawing/2014/main" id="{7EE8B509-B497-137D-8E56-049AD5C7F80D}"/>
              </a:ext>
            </a:extLst>
          </p:cNvPr>
          <p:cNvSpPr txBox="1"/>
          <p:nvPr/>
        </p:nvSpPr>
        <p:spPr>
          <a:xfrm>
            <a:off x="524933" y="1476117"/>
            <a:ext cx="10828867" cy="5016758"/>
          </a:xfrm>
          <a:prstGeom prst="rect">
            <a:avLst/>
          </a:prstGeom>
          <a:noFill/>
        </p:spPr>
        <p:txBody>
          <a:bodyPr wrap="square" rtlCol="0">
            <a:spAutoFit/>
          </a:bodyPr>
          <a:lstStyle/>
          <a:p>
            <a:pPr>
              <a:lnSpc>
                <a:spcPct val="150000"/>
              </a:lnSpc>
            </a:pPr>
            <a:r>
              <a:rPr lang="en-US" altLang="ja-JP" sz="2000" b="1" dirty="0"/>
              <a:t>1.</a:t>
            </a:r>
            <a:r>
              <a:rPr lang="ja-JP" altLang="en-US" sz="2000" b="1" dirty="0"/>
              <a:t>使用ソフト</a:t>
            </a:r>
          </a:p>
          <a:p>
            <a:pPr marL="342900" indent="-342900">
              <a:lnSpc>
                <a:spcPct val="150000"/>
              </a:lnSpc>
              <a:buFont typeface="Arial" panose="020B0604020202020204" pitchFamily="34" charset="0"/>
              <a:buChar char="•"/>
            </a:pPr>
            <a:r>
              <a:rPr lang="en-US" altLang="ja-JP" sz="2000" dirty="0"/>
              <a:t>Visual Studio Code</a:t>
            </a:r>
            <a:r>
              <a:rPr lang="ja-JP" altLang="en-US" sz="2000" dirty="0"/>
              <a:t>　    </a:t>
            </a:r>
            <a:r>
              <a:rPr lang="en-US" altLang="ja-JP" sz="2000" dirty="0"/>
              <a:t>HTML</a:t>
            </a:r>
            <a:r>
              <a:rPr lang="ja-JP" altLang="en-US" sz="2000" dirty="0"/>
              <a:t>・</a:t>
            </a:r>
            <a:r>
              <a:rPr lang="en-US" altLang="ja-JP" sz="2000" dirty="0"/>
              <a:t>CSS</a:t>
            </a:r>
            <a:r>
              <a:rPr lang="ja-JP" altLang="en-US" sz="2000" dirty="0"/>
              <a:t>・</a:t>
            </a:r>
            <a:r>
              <a:rPr lang="en-US" altLang="ja-JP" sz="2000" dirty="0"/>
              <a:t>JavaScript</a:t>
            </a:r>
            <a:r>
              <a:rPr lang="ja-JP" altLang="en-US" sz="2000" dirty="0"/>
              <a:t>の編集、</a:t>
            </a:r>
            <a:r>
              <a:rPr lang="en-US" altLang="ja-JP" sz="2000" dirty="0"/>
              <a:t>Web</a:t>
            </a:r>
            <a:r>
              <a:rPr lang="ja-JP" altLang="en-US" sz="2000" dirty="0"/>
              <a:t>サイト制作</a:t>
            </a:r>
            <a:endParaRPr lang="en-US" altLang="ja-JP" sz="2000" dirty="0"/>
          </a:p>
          <a:p>
            <a:pPr marL="342900" indent="-342900">
              <a:lnSpc>
                <a:spcPct val="150000"/>
              </a:lnSpc>
              <a:buFont typeface="Arial" panose="020B0604020202020204" pitchFamily="34" charset="0"/>
              <a:buChar char="•"/>
            </a:pPr>
            <a:r>
              <a:rPr lang="en-US" altLang="ja-JP" sz="2000" dirty="0"/>
              <a:t>Blender</a:t>
            </a:r>
            <a:r>
              <a:rPr lang="ja-JP" altLang="en-US" sz="2000" dirty="0"/>
              <a:t>　　　　　　    建物の</a:t>
            </a:r>
            <a:r>
              <a:rPr lang="en-US" altLang="ja-JP" sz="2000" dirty="0"/>
              <a:t>3D</a:t>
            </a:r>
            <a:r>
              <a:rPr lang="ja-JP" altLang="en-US" sz="2000" dirty="0"/>
              <a:t>モデル制作</a:t>
            </a:r>
            <a:endParaRPr lang="en-US" altLang="ja-JP" sz="2000" dirty="0"/>
          </a:p>
          <a:p>
            <a:pPr marL="342900" indent="-342900">
              <a:lnSpc>
                <a:spcPct val="150000"/>
              </a:lnSpc>
              <a:buFont typeface="Arial" panose="020B0604020202020204" pitchFamily="34" charset="0"/>
              <a:buChar char="•"/>
            </a:pPr>
            <a:r>
              <a:rPr lang="en-US" altLang="ja-JP" sz="2000" dirty="0"/>
              <a:t>Three.js</a:t>
            </a:r>
            <a:r>
              <a:rPr lang="ja-JP" altLang="en-US" sz="2000" dirty="0"/>
              <a:t>　　　　　　   </a:t>
            </a:r>
            <a:r>
              <a:rPr lang="en-US" altLang="ja-JP" sz="2000" dirty="0"/>
              <a:t>Web</a:t>
            </a:r>
            <a:r>
              <a:rPr lang="ja-JP" altLang="en-US" sz="2000" dirty="0"/>
              <a:t>サイト上で</a:t>
            </a:r>
            <a:r>
              <a:rPr lang="en-US" altLang="ja-JP" sz="2000" dirty="0"/>
              <a:t>3D</a:t>
            </a:r>
            <a:r>
              <a:rPr lang="ja-JP" altLang="en-US" sz="2000" dirty="0"/>
              <a:t>マップを表示・操作するために使用</a:t>
            </a:r>
            <a:endParaRPr lang="en-US" altLang="ja-JP" sz="2000" dirty="0"/>
          </a:p>
          <a:p>
            <a:pPr marL="342900" indent="-342900">
              <a:lnSpc>
                <a:spcPct val="150000"/>
              </a:lnSpc>
              <a:buFont typeface="Arial" panose="020B0604020202020204" pitchFamily="34" charset="0"/>
              <a:buChar char="•"/>
            </a:pPr>
            <a:r>
              <a:rPr lang="en-US" altLang="ja-JP" sz="2000" dirty="0"/>
              <a:t>Adobe Photoshop</a:t>
            </a:r>
            <a:r>
              <a:rPr lang="ja-JP" altLang="en-US" sz="2000" dirty="0"/>
              <a:t>　　   写真の加工・編集（使用する場合）</a:t>
            </a:r>
          </a:p>
          <a:p>
            <a:pPr>
              <a:lnSpc>
                <a:spcPct val="150000"/>
              </a:lnSpc>
            </a:pPr>
            <a:r>
              <a:rPr lang="en-US" altLang="ja-JP" sz="2000" b="1" dirty="0"/>
              <a:t>2.</a:t>
            </a:r>
            <a:r>
              <a:rPr lang="ja-JP" altLang="en-US" sz="2000" b="1" dirty="0"/>
              <a:t>使用機材</a:t>
            </a:r>
          </a:p>
          <a:p>
            <a:pPr marL="342900" indent="-342900">
              <a:lnSpc>
                <a:spcPct val="150000"/>
              </a:lnSpc>
              <a:buFont typeface="Arial" panose="020B0604020202020204" pitchFamily="34" charset="0"/>
              <a:buChar char="•"/>
            </a:pPr>
            <a:r>
              <a:rPr lang="ja-JP" altLang="en-US" sz="2000" dirty="0"/>
              <a:t>ノートパソコン（</a:t>
            </a:r>
            <a:r>
              <a:rPr lang="en-US" altLang="ja-JP" sz="2000" dirty="0"/>
              <a:t>Web</a:t>
            </a:r>
            <a:r>
              <a:rPr lang="ja-JP" altLang="en-US" sz="2000" dirty="0"/>
              <a:t>サイト・</a:t>
            </a:r>
            <a:r>
              <a:rPr lang="en-US" altLang="ja-JP" sz="2000" dirty="0"/>
              <a:t>3D</a:t>
            </a:r>
            <a:r>
              <a:rPr lang="ja-JP" altLang="en-US" sz="2000" dirty="0"/>
              <a:t>モデルの制作）</a:t>
            </a:r>
          </a:p>
          <a:p>
            <a:pPr marL="342900" indent="-342900">
              <a:lnSpc>
                <a:spcPct val="150000"/>
              </a:lnSpc>
              <a:buFont typeface="Arial" panose="020B0604020202020204" pitchFamily="34" charset="0"/>
              <a:buChar char="•"/>
            </a:pPr>
            <a:r>
              <a:rPr lang="ja-JP" altLang="en-US" sz="2000" dirty="0"/>
              <a:t>マウス（</a:t>
            </a:r>
            <a:r>
              <a:rPr lang="en-US" altLang="ja-JP" sz="2000" dirty="0"/>
              <a:t>PC</a:t>
            </a:r>
            <a:r>
              <a:rPr lang="ja-JP" altLang="en-US" sz="2000" dirty="0"/>
              <a:t>操作・</a:t>
            </a:r>
            <a:r>
              <a:rPr lang="en-US" altLang="ja-JP" sz="2000" dirty="0"/>
              <a:t>3D</a:t>
            </a:r>
            <a:r>
              <a:rPr lang="ja-JP" altLang="en-US" sz="2000" dirty="0"/>
              <a:t>モデル制作）</a:t>
            </a:r>
          </a:p>
          <a:p>
            <a:pPr marL="342900" indent="-342900">
              <a:lnSpc>
                <a:spcPct val="150000"/>
              </a:lnSpc>
              <a:buFont typeface="Arial" panose="020B0604020202020204" pitchFamily="34" charset="0"/>
              <a:buChar char="•"/>
            </a:pPr>
            <a:r>
              <a:rPr lang="ja-JP" altLang="en-US" sz="2000" dirty="0"/>
              <a:t>スマートフォン（</a:t>
            </a:r>
            <a:r>
              <a:rPr lang="en-US" altLang="ja-JP" sz="2000" dirty="0"/>
              <a:t>Web</a:t>
            </a:r>
            <a:r>
              <a:rPr lang="ja-JP" altLang="en-US" sz="2000" dirty="0"/>
              <a:t>サイトの表示確認・写真撮影）</a:t>
            </a:r>
          </a:p>
          <a:p>
            <a:pPr>
              <a:lnSpc>
                <a:spcPct val="150000"/>
              </a:lnSpc>
            </a:pPr>
            <a:r>
              <a:rPr lang="en-US" altLang="ja-JP" sz="2000" b="1" dirty="0"/>
              <a:t>3.</a:t>
            </a:r>
            <a:r>
              <a:rPr lang="ja-JP" altLang="en-US" sz="2000" b="1" dirty="0"/>
              <a:t>参照サイト</a:t>
            </a:r>
          </a:p>
          <a:p>
            <a:pPr marL="342900" indent="-342900">
              <a:buFont typeface="Arial" panose="020B0604020202020204" pitchFamily="34" charset="0"/>
              <a:buChar char="•"/>
            </a:pPr>
            <a:r>
              <a:rPr kumimoji="1" lang="en-US" altLang="ja-JP" sz="2000" dirty="0"/>
              <a:t>google</a:t>
            </a:r>
            <a:endParaRPr kumimoji="1" lang="ja-JP" altLang="en-US" sz="2000" dirty="0"/>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1173</Words>
  <Application>Microsoft Office PowerPoint</Application>
  <PresentationFormat>ワイド画面</PresentationFormat>
  <Paragraphs>116</Paragraphs>
  <Slides>9</Slides>
  <Notes>9</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9</vt:i4>
      </vt:variant>
    </vt:vector>
  </HeadingPairs>
  <TitlesOfParts>
    <vt:vector size="11" baseType="lpstr">
      <vt:lpstr>Arial</vt:lpstr>
      <vt:lpstr>Office テーマ</vt:lpstr>
      <vt:lpstr>予備審査 発表</vt:lpstr>
      <vt:lpstr>テーマ</vt:lpstr>
      <vt:lpstr>目次</vt:lpstr>
      <vt:lpstr>目的・背景</vt:lpstr>
      <vt:lpstr>PowerPoint プレゼンテーション</vt:lpstr>
      <vt:lpstr>作品・研究の概要</vt:lpstr>
      <vt:lpstr>PowerPoint プレゼンテーション</vt:lpstr>
      <vt:lpstr>今後の流れ </vt:lpstr>
      <vt:lpstr>制作・研究方法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渡辺 眞未</dc:creator>
  <cp:lastModifiedBy>安永　卓真</cp:lastModifiedBy>
  <cp:revision>8</cp:revision>
  <dcterms:created xsi:type="dcterms:W3CDTF">2022-09-01T01:56:56Z</dcterms:created>
  <dcterms:modified xsi:type="dcterms:W3CDTF">2026-10-05T07:01:11Z</dcterms:modified>
</cp:coreProperties>
</file>